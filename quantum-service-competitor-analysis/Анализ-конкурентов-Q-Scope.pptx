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2D6CDF"/>
                </a:solidFill>
                <a:latin typeface="Calibri"/>
              </a:rPr>
              <a:t>ТЕСТОВОЕ ЗАДАНИЕ · БИЗНЕС-АНАЛИТИК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43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400" b="1" i="0">
                <a:solidFill>
                  <a:srgbClr val="1A3E8C"/>
                </a:solidFill>
                <a:latin typeface="Calibri"/>
              </a:rPr>
              <a:t>Анализ конкурентов и аналогов.</a:t>
            </a:r>
          </a:p>
          <a:p>
            <a:r>
              <a:rPr sz="3400" b="1" i="0">
                <a:solidFill>
                  <a:srgbClr val="1A3E8C"/>
                </a:solidFill>
                <a:latin typeface="Calibri"/>
              </a:rPr>
              <a:t>Рекомендации для первой версии продукта (MVP)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788920"/>
            <a:ext cx="2926080" cy="3810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3108960"/>
            <a:ext cx="6583680" cy="3017520"/>
          </a:xfrm>
          <a:prstGeom prst="roundRect">
            <a:avLst/>
          </a:prstGeom>
          <a:solidFill>
            <a:srgbClr val="ECF1FB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/>
          <a:lstStyle/>
          <a:p>
            <a:pPr algn="ctr"/>
            <a:r>
              <a:rPr sz="1600" b="1" i="0">
                <a:solidFill>
                  <a:srgbClr val="1A3E8C"/>
                </a:solidFill>
                <a:latin typeface="Calibri"/>
              </a:rPr>
              <a:t>Что мы запускаем — «Q-Scope»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Сервис предварительной квалификации бизнес-задач на применимость квантовых вычислений.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Помогает описать задачу на языке бизнеса, даёт предварительный сигнал перспективности и передаёт структурированную задачу экспертам.</a:t>
            </a:r>
          </a:p>
          <a:p>
            <a:pPr>
              <a:spcBef>
                <a:spcPts val="700"/>
              </a:spcBef>
            </a:pPr>
            <a:r>
              <a:rPr sz="1250" b="0" i="0">
                <a:solidFill>
                  <a:srgbClr val="2B2B2B"/>
                </a:solidFill>
                <a:latin typeface="Calibri"/>
              </a:rPr>
              <a:t>•  Это НЕ QC-провайдер и не доступ к «железу», а слой квалификации и маршрутизации use-case'ов. Эффект не гарантируется.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3108960"/>
            <a:ext cx="370332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01168"/>
          <a:lstStyle/>
          <a:p>
            <a:pPr algn="ctr"/>
            <a:r>
              <a:rPr sz="1500" b="1" i="0">
                <a:solidFill>
                  <a:srgbClr val="2D6CDF"/>
                </a:solidFill>
                <a:latin typeface="Calibri"/>
              </a:rPr>
              <a:t>Метод анализа: 3 слоя</a:t>
            </a:r>
          </a:p>
          <a:p>
            <a:pPr>
              <a:spcBef>
                <a:spcPts val="1100"/>
              </a:spcBef>
            </a:pPr>
            <a:r>
              <a:rPr sz="1400" b="1" i="0">
                <a:solidFill>
                  <a:srgbClr val="1A3E8C"/>
                </a:solidFill>
                <a:latin typeface="Calibri"/>
              </a:rPr>
              <a:t>1 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Прямые квантовые игроки</a:t>
            </a:r>
          </a:p>
          <a:p>
            <a:pPr>
              <a:spcBef>
                <a:spcPts val="1100"/>
              </a:spcBef>
            </a:pPr>
            <a:r>
              <a:rPr sz="1400" b="1" i="0">
                <a:solidFill>
                  <a:srgbClr val="1A3E8C"/>
                </a:solidFill>
                <a:latin typeface="Calibri"/>
              </a:rPr>
              <a:t>2 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Смежный квантовый консалтинг и софт</a:t>
            </a:r>
          </a:p>
          <a:p>
            <a:pPr>
              <a:spcBef>
                <a:spcPts val="1100"/>
              </a:spcBef>
            </a:pPr>
            <a:r>
              <a:rPr sz="1400" b="1" i="0">
                <a:solidFill>
                  <a:srgbClr val="1A3E8C"/>
                </a:solidFill>
                <a:latin typeface="Calibri"/>
              </a:rPr>
              <a:t>3   </a:t>
            </a:r>
            <a:r>
              <a:rPr sz="1250" b="0" i="0">
                <a:solidFill>
                  <a:srgbClr val="2B2B2B"/>
                </a:solidFill>
                <a:latin typeface="Calibri"/>
              </a:rPr>
              <a:t>Неквантовые assessment-инструменты — ориентир по формату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D6CDF"/>
                </a:solidFill>
                <a:latin typeface="Calibri"/>
              </a:rPr>
              <a:t>ШАГ 1 · ВЫБОР КОНКУРЕНТОВ И АНАЛОГОВ</a:t>
            </a:r>
          </a:p>
          <a:p>
            <a:pPr>
              <a:spcBef>
                <a:spcPts val="200"/>
              </a:spcBef>
            </a:pPr>
            <a:r>
              <a:rPr sz="2600" b="1" i="0">
                <a:solidFill>
                  <a:srgbClr val="1A3E8C"/>
                </a:solidFill>
                <a:latin typeface="Calibri"/>
              </a:rPr>
              <a:t>Кого сравниваем и насколько они близки нам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 /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83080"/>
          <a:ext cx="11091672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4114800"/>
                <a:gridCol w="2286000"/>
                <a:gridCol w="1947672"/>
              </a:tblGrid>
              <a:tr h="8961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Решение</a:t>
                      </a:r>
                    </a:p>
                  </a:txBody>
                  <a:tcPr marL="73152" marR="73152" marT="36576" marB="36576" anchor="ctr">
                    <a:solidFill>
                      <a:srgbClr val="1A3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Почему выбрали</a:t>
                      </a:r>
                    </a:p>
                  </a:txBody>
                  <a:tcPr marL="73152" marR="73152" marT="36576" marB="36576" anchor="ctr">
                    <a:solidFill>
                      <a:srgbClr val="1A3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Тип решения</a:t>
                      </a:r>
                    </a:p>
                  </a:txBody>
                  <a:tcPr marL="73152" marR="73152" marT="36576" marB="36576" anchor="ctr">
                    <a:solidFill>
                      <a:srgbClr val="1A3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Близость к нам</a:t>
                      </a:r>
                    </a:p>
                  </a:txBody>
                  <a:tcPr marL="73152" marR="73152" marT="36576" marB="36576" anchor="ctr">
                    <a:solidFill>
                      <a:srgbClr val="1A3E8C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3E8C"/>
                          </a:solidFill>
                          <a:latin typeface="Calibri"/>
                        </a:rPr>
                        <a:t>D-Wave Launch + Professional Services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Делает ровно use-case identification &amp; assessment для enterprise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Квантовый вендор + проф. услуги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Прямой конкурент (ближайший)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3E8C"/>
                          </a:solidFill>
                          <a:latin typeface="Calibri"/>
                        </a:rPr>
                        <a:t>IBM Quantum (Network, working groups, Quantum Business Foundations)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Лидер рынка; формирует спрос и поиск применений через комьюнити и обучение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Облачная QC-платформа + экосистема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Альтернативный способ (доступ + обучение)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3E8C"/>
                          </a:solidFill>
                          <a:latin typeface="Calibri"/>
                        </a:rPr>
                        <a:t>Multiverse Computing / QC Ware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Показывают модель discovery → PoC в крупном enterprise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Квантовый софт / консалтинг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Аналог (дорогой проектный консалтинг)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A3E8C"/>
                          </a:solidFill>
                          <a:latin typeface="Calibri"/>
                        </a:rPr>
                        <a:t>Microsoft AI Readiness + AWS Well-Architected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Неквантовые, но решают ту же мета-задачу «подходит ли технология X»; эталон формата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Self-service assessment-инструмент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  <a:latin typeface="Calibri"/>
                        </a:rPr>
                        <a:t>Альтернативный способ + ориентир по формату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D6CDF"/>
                </a:solidFill>
                <a:latin typeface="Calibri"/>
              </a:rPr>
              <a:t>ШАГ 2 · СРАВНИТЕЛЬНЫЙ АНАЛИЗ</a:t>
            </a:r>
          </a:p>
          <a:p>
            <a:pPr>
              <a:spcBef>
                <a:spcPts val="200"/>
              </a:spcBef>
            </a:pPr>
            <a:r>
              <a:rPr sz="2600" b="1" i="0">
                <a:solidFill>
                  <a:srgbClr val="1A3E8C"/>
                </a:solidFill>
                <a:latin typeface="Calibri"/>
              </a:rPr>
              <a:t>Сравнительная матрица по ключевым критериям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 / 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1672" cy="46177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920240"/>
                <a:gridCol w="2292858"/>
                <a:gridCol w="2292858"/>
                <a:gridCol w="2292858"/>
                <a:gridCol w="2292858"/>
              </a:tblGrid>
              <a:tr h="5130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Критерий</a:t>
                      </a:r>
                    </a:p>
                  </a:txBody>
                  <a:tcPr marL="73152" marR="73152" marT="36576" marB="36576" anchor="ctr">
                    <a:solidFill>
                      <a:srgbClr val="1A3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D-Wave Launch</a:t>
                      </a:r>
                    </a:p>
                  </a:txBody>
                  <a:tcPr marL="73152" marR="73152" marT="36576" marB="36576" anchor="ctr">
                    <a:solidFill>
                      <a:srgbClr val="1A3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IBM Quantum</a:t>
                      </a:r>
                    </a:p>
                  </a:txBody>
                  <a:tcPr marL="73152" marR="73152" marT="36576" marB="36576" anchor="ctr">
                    <a:solidFill>
                      <a:srgbClr val="1A3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Multiverse / QC Ware</a:t>
                      </a:r>
                    </a:p>
                  </a:txBody>
                  <a:tcPr marL="73152" marR="73152" marT="36576" marB="36576" anchor="ctr">
                    <a:solidFill>
                      <a:srgbClr val="1A3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MS AI Readiness / AWS WA</a:t>
                      </a:r>
                    </a:p>
                  </a:txBody>
                  <a:tcPr marL="73152" marR="73152" marT="36576" marB="36576" anchor="ctr">
                    <a:solidFill>
                      <a:srgbClr val="1A3E8C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3E8C"/>
                          </a:solidFill>
                          <a:latin typeface="Calibri"/>
                        </a:rPr>
                        <a:t>Целевая аудитория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Enterprise: тех-команды + бизнес-спонсоры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Разработчики, исследователи, инноваторы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Крупный enterprise (фин/энерго/пром)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Бизнес + IT, широкий self-service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3E8C"/>
                          </a:solidFill>
                          <a:latin typeface="Calibri"/>
                        </a:rPr>
                        <a:t>Ценностное предложение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От поиска задачи до продакшена на своём кванте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Облачный доступ + экосистема и обучение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Готовые квантовые решения под задачу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Быстро оценить готовность без консультанта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3E8C"/>
                          </a:solidFill>
                          <a:latin typeface="Calibri"/>
                        </a:rPr>
                        <a:t>Клиентские задачи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Оптимизация, логистика, расписания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Химия/материалы, оптимизация, ML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Оптимизация портфеля, риск, прогноз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Оценка зрелости/архитектуры по пилларам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3E8C"/>
                          </a:solidFill>
                          <a:latin typeface="Calibri"/>
                        </a:rPr>
                        <a:t>Отрасли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Производство, логистика, финансы, life sciences, госсектор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Life sciences, материалы, финансы, энергетика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Финансы, энергетика, промышленность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Кросс-отраслевые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3E8C"/>
                          </a:solidFill>
                          <a:latin typeface="Calibri"/>
                        </a:rPr>
                        <a:t>Формат / механика (ориентир)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Проф. услуги + воркшопы, assessment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Working groups, воркшопы, курсы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Проектный discovery → PoC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Анкета, пиллары, скоринг, отчёт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3E8C"/>
                          </a:solidFill>
                          <a:latin typeface="Calibri"/>
                        </a:rPr>
                        <a:t>Бизнес-модель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Доступ к железу + консалтинг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Cloud access + membership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Проектный консалтинг / лицензии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Бесплатный self-service (лид-ген)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3E8C"/>
                          </a:solidFill>
                          <a:latin typeface="Calibri"/>
                        </a:rPr>
                        <a:t>Vendor-нейтральность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Привязка к D-Wave (annealing)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Привязка к IBM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Частичная (свой софт)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Методология переносима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1308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1A3E8C"/>
                          </a:solidFill>
                          <a:latin typeface="Calibri"/>
                        </a:rPr>
                        <a:t>Артефакт на выходе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Use-case + план внедрения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Знания / прототипы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PoC / решение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2B2B2B"/>
                          </a:solidFill>
                          <a:latin typeface="Calibri"/>
                        </a:rPr>
                        <a:t>Скоринг + персональный отчёт</a:t>
                      </a:r>
                    </a:p>
                  </a:txBody>
                  <a:tcPr marL="73152" marR="73152" marT="36576" marB="36576" anchor="ctr"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355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1">
                <a:solidFill>
                  <a:srgbClr val="666666"/>
                </a:solidFill>
                <a:latin typeface="Calibri"/>
              </a:rPr>
              <a:t>Вывод: формат self-service анкеты/скоринга (MS/AWS) + отраслевая разбивка задач (D-Wave) — лучшие ориентиры для нас.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D6CDF"/>
                </a:solidFill>
                <a:latin typeface="Calibri"/>
              </a:rPr>
              <a:t>ШАГ 3 · КОНКУРЕНТНЫЕ ПРЕИМУЩЕСТВА</a:t>
            </a:r>
          </a:p>
          <a:p>
            <a:pPr>
              <a:spcBef>
                <a:spcPts val="200"/>
              </a:spcBef>
            </a:pPr>
            <a:r>
              <a:rPr sz="2600" b="1" i="0">
                <a:solidFill>
                  <a:srgbClr val="1A3E8C"/>
                </a:solidFill>
                <a:latin typeface="Calibri"/>
              </a:rPr>
              <a:t>Чем Q-Scope может отличаться на рынке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250" b="1" i="0">
                <a:solidFill>
                  <a:srgbClr val="1A3E8C"/>
                </a:solidFill>
                <a:latin typeface="Calibri"/>
              </a:rPr>
              <a:t>Vendor-нейтральность (hardware-agnostic)</a:t>
            </a:r>
          </a:p>
          <a:p>
            <a:pPr>
              <a:spcBef>
                <a:spcPts val="600"/>
              </a:spcBef>
            </a:pPr>
            <a:r>
              <a:rPr sz="950" b="0" i="0">
                <a:solidFill>
                  <a:srgbClr val="666666"/>
                </a:solidFill>
                <a:latin typeface="Calibri"/>
              </a:rPr>
              <a:t>Наблюдение: D-Wave/IBM привязывают оценку к своему железу.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B2B2B"/>
                </a:solidFill>
                <a:latin typeface="Calibri"/>
              </a:rPr>
              <a:t>Ценность: непредвзятая рекомендация и охват любых задач/поставщиков → доверие.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66160" cy="109728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5968" y="173736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250" b="1" i="0">
                <a:solidFill>
                  <a:srgbClr val="1A3E8C"/>
                </a:solidFill>
                <a:latin typeface="Calibri"/>
              </a:rPr>
              <a:t>Self-service и низкий порог входа</a:t>
            </a:r>
          </a:p>
          <a:p>
            <a:pPr>
              <a:spcBef>
                <a:spcPts val="600"/>
              </a:spcBef>
            </a:pPr>
            <a:r>
              <a:rPr sz="950" b="0" i="0">
                <a:solidFill>
                  <a:srgbClr val="666666"/>
                </a:solidFill>
                <a:latin typeface="Calibri"/>
              </a:rPr>
              <a:t>Наблюдение: квантовые офферы — sales-gated консалтинг; спрос на self-service анкеты доказан (MS/AWS).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B2B2B"/>
                </a:solidFill>
                <a:latin typeface="Calibri"/>
              </a:rPr>
              <a:t>Ценность: быстрый сигнал без обязательств → масштабируемая воронка лидов.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66160" cy="109728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74152" y="173736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250" b="1" i="0">
                <a:solidFill>
                  <a:srgbClr val="1A3E8C"/>
                </a:solidFill>
                <a:latin typeface="Calibri"/>
              </a:rPr>
              <a:t>Язык бизнеса без квантовой экспертизы</a:t>
            </a:r>
          </a:p>
          <a:p>
            <a:pPr>
              <a:spcBef>
                <a:spcPts val="600"/>
              </a:spcBef>
            </a:pPr>
            <a:r>
              <a:rPr sz="950" b="0" i="0">
                <a:solidFill>
                  <a:srgbClr val="666666"/>
                </a:solidFill>
                <a:latin typeface="Calibri"/>
              </a:rPr>
              <a:t>Наблюдение: IBM/D-Wave предполагают тех-грамотность пользователя.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B2B2B"/>
                </a:solidFill>
                <a:latin typeface="Calibri"/>
              </a:rPr>
              <a:t>Ценность: доступно бизнес-заказчику; структурирует задачу в бизнес-терминах.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2" y="1737360"/>
            <a:ext cx="3566160" cy="109728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4069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250" b="1" i="0">
                <a:solidFill>
                  <a:srgbClr val="1A3E8C"/>
                </a:solidFill>
                <a:latin typeface="Calibri"/>
              </a:rPr>
              <a:t>Честное управление ожиданиями</a:t>
            </a:r>
          </a:p>
          <a:p>
            <a:pPr>
              <a:spcBef>
                <a:spcPts val="600"/>
              </a:spcBef>
            </a:pPr>
            <a:r>
              <a:rPr sz="950" b="0" i="0">
                <a:solidFill>
                  <a:srgbClr val="666666"/>
                </a:solidFill>
                <a:latin typeface="Calibri"/>
              </a:rPr>
              <a:t>Наблюдение: рынок перегрет хайпом, гарантий эффекта нет.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B2B2B"/>
                </a:solidFill>
                <a:latin typeface="Calibri"/>
              </a:rPr>
              <a:t>Ценность: ранний отсев неподходящих кейсов → качественные лиды и доверие.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3160" y="4069080"/>
            <a:ext cx="3566160" cy="109728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90488" y="4069080"/>
            <a:ext cx="35661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/>
          <a:lstStyle/>
          <a:p>
            <a:pPr algn="ctr"/>
            <a:r>
              <a:rPr sz="1250" b="1" i="0">
                <a:solidFill>
                  <a:srgbClr val="1A3E8C"/>
                </a:solidFill>
                <a:latin typeface="Calibri"/>
              </a:rPr>
              <a:t>Мост к экспертам + структурированный бриф</a:t>
            </a:r>
          </a:p>
          <a:p>
            <a:pPr>
              <a:spcBef>
                <a:spcPts val="600"/>
              </a:spcBef>
            </a:pPr>
            <a:r>
              <a:rPr sz="950" b="0" i="0">
                <a:solidFill>
                  <a:srgbClr val="666666"/>
                </a:solidFill>
                <a:latin typeface="Calibri"/>
              </a:rPr>
              <a:t>Наблюдение: assessment-инструменты заканчиваются отчётом и не ведут к next step.</a:t>
            </a:r>
          </a:p>
          <a:p>
            <a:pPr>
              <a:spcBef>
                <a:spcPts val="500"/>
              </a:spcBef>
            </a:pPr>
            <a:r>
              <a:rPr sz="1000" b="1" i="0">
                <a:solidFill>
                  <a:srgbClr val="2B2B2B"/>
                </a:solidFill>
                <a:latin typeface="Calibri"/>
              </a:rPr>
              <a:t>Ценность: готовый бриф экономит время экспертов; чёткий next step и точка монетизации.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4069080"/>
            <a:ext cx="3566160" cy="109728"/>
          </a:xfrm>
          <a:prstGeom prst="round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109728" cy="868680"/>
          </a:xfrm>
          <a:prstGeom prst="rect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10424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2D6CDF"/>
                </a:solidFill>
                <a:latin typeface="Calibri"/>
              </a:rPr>
              <a:t>ШАГ 4 · РЕКОМЕНДАЦИИ ДЛЯ РАЗРАБОТЧИКОВ</a:t>
            </a:r>
          </a:p>
          <a:p>
            <a:pPr>
              <a:spcBef>
                <a:spcPts val="200"/>
              </a:spcBef>
            </a:pPr>
            <a:r>
              <a:rPr sz="2600" b="1" i="0">
                <a:solidFill>
                  <a:srgbClr val="1A3E8C"/>
                </a:solidFill>
                <a:latin typeface="Calibri"/>
              </a:rPr>
              <a:t>Что включить в первую версию (MVP)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81328"/>
            <a:ext cx="11091672" cy="177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 / 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691639"/>
            <a:ext cx="4892040" cy="722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A3E8C"/>
                </a:solidFill>
                <a:latin typeface="Calibri"/>
              </a:rPr>
              <a:t>Анкета на языке бизнеса</a:t>
            </a:r>
          </a:p>
          <a:p>
            <a:pPr>
              <a:spcBef>
                <a:spcPts val="100"/>
              </a:spcBef>
            </a:pPr>
            <a:r>
              <a:rPr sz="980" b="0" i="0">
                <a:solidFill>
                  <a:srgbClr val="666666"/>
                </a:solidFill>
                <a:latin typeface="Calibri"/>
              </a:rPr>
              <a:t>Модульно: задача · текущее решение и боль · масштаб, данные, ограничения · тип цели.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78024"/>
            <a:ext cx="457200" cy="4572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432304"/>
            <a:ext cx="4892040" cy="722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A3E8C"/>
                </a:solidFill>
                <a:latin typeface="Calibri"/>
              </a:rPr>
              <a:t>Rule-based классификатор архетипов</a:t>
            </a:r>
          </a:p>
          <a:p>
            <a:pPr>
              <a:spcBef>
                <a:spcPts val="100"/>
              </a:spcBef>
            </a:pPr>
            <a:r>
              <a:rPr sz="980" b="0" i="0">
                <a:solidFill>
                  <a:srgbClr val="666666"/>
                </a:solidFill>
                <a:latin typeface="Calibri"/>
              </a:rPr>
              <a:t>Оптимизация / симуляция / сэмплинг / QML → вердикт «перспективно / неочевидно / вряд ли».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18687"/>
            <a:ext cx="457200" cy="4572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72968"/>
            <a:ext cx="4892040" cy="722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A3E8C"/>
                </a:solidFill>
                <a:latin typeface="Calibri"/>
              </a:rPr>
              <a:t>Прозрачный скоринг + дисклеймер</a:t>
            </a:r>
          </a:p>
          <a:p>
            <a:pPr>
              <a:spcBef>
                <a:spcPts val="100"/>
              </a:spcBef>
            </a:pPr>
            <a:r>
              <a:rPr sz="980" b="0" i="0">
                <a:solidFill>
                  <a:srgbClr val="666666"/>
                </a:solidFill>
                <a:latin typeface="Calibri"/>
              </a:rPr>
              <a:t>Понятная логика оценки и обязательное «без гарантии эффекта».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59352"/>
            <a:ext cx="457200" cy="4572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13632"/>
            <a:ext cx="4892040" cy="722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A3E8C"/>
                </a:solidFill>
                <a:latin typeface="Calibri"/>
              </a:rPr>
              <a:t>Артефакт на выходе — бриф</a:t>
            </a:r>
          </a:p>
          <a:p>
            <a:pPr>
              <a:spcBef>
                <a:spcPts val="100"/>
              </a:spcBef>
            </a:pPr>
            <a:r>
              <a:rPr sz="980" b="0" i="0">
                <a:solidFill>
                  <a:srgbClr val="666666"/>
                </a:solidFill>
                <a:latin typeface="Calibri"/>
              </a:rPr>
              <a:t>Одностраничный структурированный бриф задачи + предварительный вердикт для экспертов.</a:t>
            </a:r>
          </a:p>
        </p:txBody>
      </p:sp>
      <p:sp>
        <p:nvSpPr>
          <p:cNvPr id="14" name="Oval 13"/>
          <p:cNvSpPr/>
          <p:nvPr/>
        </p:nvSpPr>
        <p:spPr>
          <a:xfrm>
            <a:off x="6492240" y="1737360"/>
            <a:ext cx="457200" cy="4572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39"/>
            <a:ext cx="4892040" cy="722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A3E8C"/>
                </a:solidFill>
                <a:latin typeface="Calibri"/>
              </a:rPr>
              <a:t>Флоу хэндоффа к экспертам</a:t>
            </a:r>
          </a:p>
          <a:p>
            <a:pPr>
              <a:spcBef>
                <a:spcPts val="100"/>
              </a:spcBef>
            </a:pPr>
            <a:r>
              <a:rPr sz="980" b="0" i="0">
                <a:solidFill>
                  <a:srgbClr val="666666"/>
                </a:solidFill>
                <a:latin typeface="Calibri"/>
              </a:rPr>
              <a:t>Запись на консультацию / очередь экспертов + лид-капчер.</a:t>
            </a:r>
          </a:p>
        </p:txBody>
      </p:sp>
      <p:sp>
        <p:nvSpPr>
          <p:cNvPr id="16" name="Oval 15"/>
          <p:cNvSpPr/>
          <p:nvPr/>
        </p:nvSpPr>
        <p:spPr>
          <a:xfrm>
            <a:off x="6492240" y="2478024"/>
            <a:ext cx="457200" cy="4572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432304"/>
            <a:ext cx="4892040" cy="722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A3E8C"/>
                </a:solidFill>
                <a:latin typeface="Calibri"/>
              </a:rPr>
              <a:t>Библиотека вопросов и примеров</a:t>
            </a:r>
          </a:p>
          <a:p>
            <a:pPr>
              <a:spcBef>
                <a:spcPts val="100"/>
              </a:spcBef>
            </a:pPr>
            <a:r>
              <a:rPr sz="980" b="0" i="0">
                <a:solidFill>
                  <a:srgbClr val="666666"/>
                </a:solidFill>
                <a:latin typeface="Calibri"/>
              </a:rPr>
              <a:t>Типовые вопросы и use-case по отраслям (логистика, финансы, производство, life sciences).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3218687"/>
            <a:ext cx="457200" cy="457200"/>
          </a:xfrm>
          <a:prstGeom prst="ellipse">
            <a:avLst/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172968"/>
            <a:ext cx="4892040" cy="7223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1" i="0">
                <a:solidFill>
                  <a:srgbClr val="1A3E8C"/>
                </a:solidFill>
                <a:latin typeface="Calibri"/>
              </a:rPr>
              <a:t>Сбор данных и жёсткий скоуп</a:t>
            </a:r>
          </a:p>
          <a:p>
            <a:pPr>
              <a:spcBef>
                <a:spcPts val="100"/>
              </a:spcBef>
            </a:pPr>
            <a:r>
              <a:rPr sz="980" b="0" i="0">
                <a:solidFill>
                  <a:srgbClr val="666666"/>
                </a:solidFill>
                <a:latin typeface="Calibri"/>
              </a:rPr>
              <a:t>Обезличенные анкеты → база знаний; аналитика воронки. Без интеграций и реального запуска кванта в v1.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913632"/>
            <a:ext cx="5486400" cy="722375"/>
          </a:xfrm>
          <a:prstGeom prst="roundRect">
            <a:avLst/>
          </a:prstGeom>
          <a:solidFill>
            <a:srgbClr val="EC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54864"/>
          <a:lstStyle/>
          <a:p>
            <a:pPr algn="ctr"/>
            <a:r>
              <a:rPr sz="1050" b="1" i="0">
                <a:solidFill>
                  <a:srgbClr val="1A3E8C"/>
                </a:solidFill>
                <a:latin typeface="Calibri"/>
              </a:rPr>
              <a:t>Принцип MVP: максимально быстрый и честный предварительный сигнал + чистый бриф для экспертов.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