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D6CDF"/>
                </a:solidFill>
                <a:latin typeface="Calibri"/>
              </a:rPr>
              <a:t>ТЕСТОВОЕ ЗАДАНИЕ · БИЗНЕС-АНАЛИТИК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i="0">
                <a:solidFill>
                  <a:srgbClr val="1A3E8C"/>
                </a:solidFill>
                <a:latin typeface="Calibri"/>
              </a:rPr>
              <a:t>Анализ конкурентов и аналогов.</a:t>
            </a:r>
          </a:p>
          <a:p>
            <a:r>
              <a:rPr sz="3400" b="1" i="0">
                <a:solidFill>
                  <a:srgbClr val="1A3E8C"/>
                </a:solidFill>
                <a:latin typeface="Calibri"/>
              </a:rPr>
              <a:t>Рекомендации для первой версии продукта (MVP)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788920"/>
            <a:ext cx="2926080" cy="381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3108960"/>
            <a:ext cx="6583680" cy="301752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/>
          <a:lstStyle/>
          <a:p>
            <a:pPr algn="ctr"/>
            <a:r>
              <a:rPr sz="1600" b="1" i="0">
                <a:solidFill>
                  <a:srgbClr val="1A3E8C"/>
                </a:solidFill>
                <a:latin typeface="Calibri"/>
              </a:rPr>
              <a:t>Что мы запускаем — «Q-Scope»</a:t>
            </a:r>
          </a:p>
          <a:p>
            <a:pPr>
              <a:spcBef>
                <a:spcPts val="7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•  Сервис предварительной квалификации бизнес-задач на применимость квантовых вычислений.</a:t>
            </a:r>
          </a:p>
          <a:p>
            <a:pPr>
              <a:spcBef>
                <a:spcPts val="7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•  Помогает описать задачу на языке бизнеса, даёт предварительный сигнал перспективности и передаёт структурированную задачу экспертам.</a:t>
            </a:r>
          </a:p>
          <a:p>
            <a:pPr>
              <a:spcBef>
                <a:spcPts val="7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•  Это НЕ QC-провайдер и не доступ к «железу», а слой квалификации и маршрутизации use-case'ов. Эффект не гарантируется.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3108960"/>
            <a:ext cx="3703320" cy="3017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ctr"/>
            <a:r>
              <a:rPr sz="1500" b="1" i="0">
                <a:solidFill>
                  <a:srgbClr val="2D6CDF"/>
                </a:solidFill>
                <a:latin typeface="Calibri"/>
              </a:rPr>
              <a:t>Метод анализа: 3 слоя</a:t>
            </a:r>
          </a:p>
          <a:p>
            <a:pPr>
              <a:spcBef>
                <a:spcPts val="1100"/>
              </a:spcBef>
            </a:pPr>
            <a:r>
              <a:rPr sz="1400" b="1" i="0">
                <a:solidFill>
                  <a:srgbClr val="1A3E8C"/>
                </a:solidFill>
                <a:latin typeface="Calibri"/>
              </a:rPr>
              <a:t>1 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Прямые квантовые игроки</a:t>
            </a:r>
          </a:p>
          <a:p>
            <a:pPr>
              <a:spcBef>
                <a:spcPts val="1100"/>
              </a:spcBef>
            </a:pPr>
            <a:r>
              <a:rPr sz="1400" b="1" i="0">
                <a:solidFill>
                  <a:srgbClr val="1A3E8C"/>
                </a:solidFill>
                <a:latin typeface="Calibri"/>
              </a:rPr>
              <a:t>2 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Смежный квантовый консалтинг и софт</a:t>
            </a:r>
          </a:p>
          <a:p>
            <a:pPr>
              <a:spcBef>
                <a:spcPts val="1100"/>
              </a:spcBef>
            </a:pPr>
            <a:r>
              <a:rPr sz="1400" b="1" i="0">
                <a:solidFill>
                  <a:srgbClr val="1A3E8C"/>
                </a:solidFill>
                <a:latin typeface="Calibri"/>
              </a:rPr>
              <a:t>3 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Неквантовые assessment-инструменты — ориентир по формату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ШАГ 1 · ВЫБОР КОНКУРЕНТОВ И АНАЛОГОВ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Кого сравниваем и насколько они близки нам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2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91672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4114800"/>
                <a:gridCol w="2286000"/>
                <a:gridCol w="1947672"/>
              </a:tblGrid>
              <a:tr h="8961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Решение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Почему выбрали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Тип решения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Близость к нам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3E8C"/>
                          </a:solidFill>
                          <a:latin typeface="Calibri"/>
                        </a:rPr>
                        <a:t>D-Wave Launch + Professional Services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Делает ровно use-case identification &amp; assessment для enterprise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Квантовый вендор + проф. услуги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Прямой конкурент (ближайший)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3E8C"/>
                          </a:solidFill>
                          <a:latin typeface="Calibri"/>
                        </a:rPr>
                        <a:t>IBM Quantum (Network, working groups, Quantum Business Foundations)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Лидер рынка; формирует спрос и поиск применений через комьюнити и обучение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Облачная QC-платформа + экосистема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Альтернативный способ (доступ + обучение)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3E8C"/>
                          </a:solidFill>
                          <a:latin typeface="Calibri"/>
                        </a:rPr>
                        <a:t>Multiverse Computing / QC Ware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Показывают модель discovery → PoC в крупном enterprise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Квантовый софт / консалтинг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Аналог (дорогой проектный консалтинг)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3E8C"/>
                          </a:solidFill>
                          <a:latin typeface="Calibri"/>
                        </a:rPr>
                        <a:t>Microsoft AI Readiness + AWS Well-Architected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Неквантовые, но решают ту же мета-задачу «подходит ли технология X»; эталон формата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Self-service assessment-инструмент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2B2B"/>
                          </a:solidFill>
                          <a:latin typeface="Calibri"/>
                        </a:rPr>
                        <a:t>Альтернативный способ + ориентир по формату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ШАГ 2 · СРАВНИТЕЛЬНЫЙ АНАЛИЗ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Сравнительная матрица по ключевым критериям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3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1672" cy="46177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0240"/>
                <a:gridCol w="2292858"/>
                <a:gridCol w="2292858"/>
                <a:gridCol w="2292858"/>
                <a:gridCol w="2292858"/>
              </a:tblGrid>
              <a:tr h="5130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D-Wave Launch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IBM Quantum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Multiverse / QC Ware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MS AI Readiness / AWS WA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Целевая аудитория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Enterprise: тех-команды + бизнес-спонсоры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Разработчики, исследователи, инноваторы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Крупный enterprise (фин/энерго/пром)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Бизнес + IT, широкий self-service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Ценностное предложение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От поиска задачи до продакшена на своём кванте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Облачный доступ + экосистема и обучение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Готовые квантовые решения под задачу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Быстро оценить готовность без консультанта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Клиентские задачи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Оптимизация, логистика, расписания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Химия/материалы, оптимизация, ML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Оптимизация портфеля, риск, прогноз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Оценка зрелости/архитектуры по пилларам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Отрасли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Производство, логистика, финансы, life sciences, госсектор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Life sciences, материалы, финансы, энергетика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Финансы, энергетика, промышленность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Кросс-отраслевые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Формат / механика (ориентир)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Проф. услуги + воркшопы, assessment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Working groups, воркшопы, курсы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Проектный discovery → PoC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Анкета, пиллары, скоринг, отчёт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Бизнес-модель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Доступ к железу + консалтинг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Cloud access + membership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Проектный консалтинг / лицензии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Бесплатный self-service (лид-ген)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Vendor-нейтральность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Привязка к D-Wave (annealing)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Привязка к IBM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Частичная (свой софт)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Методология переносима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A3E8C"/>
                          </a:solidFill>
                          <a:latin typeface="Calibri"/>
                        </a:rPr>
                        <a:t>Артефакт на выходе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Use-case + план внедрения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Знания / прототипы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PoC / решение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B2B2B"/>
                          </a:solidFill>
                          <a:latin typeface="Calibri"/>
                        </a:rPr>
                        <a:t>Скоринг + персональный отчёт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55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Calibri"/>
              </a:rPr>
              <a:t>Вывод: формат self-service анкеты/скоринга (MS/AWS) + отраслевая разбивка задач (D-Wave) — лучшие ориентиры для нас.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ШАГ 3 · КОНКУРЕНТНЫЕ ПРЕИМУЩЕСТВА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Чем Q-Scope может отличаться на рынке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4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Vendor-нейтральность (hardware-agnostic)</a:t>
            </a:r>
          </a:p>
          <a:p>
            <a:pPr>
              <a:spcBef>
                <a:spcPts val="600"/>
              </a:spcBef>
            </a:pPr>
            <a:r>
              <a:rPr sz="950" b="0" i="0">
                <a:solidFill>
                  <a:srgbClr val="666666"/>
                </a:solidFill>
                <a:latin typeface="Calibri"/>
              </a:rPr>
              <a:t>Наблюдение: D-Wave/IBM привязывают оценку к своему железу.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B2B2B"/>
                </a:solidFill>
                <a:latin typeface="Calibri"/>
              </a:rPr>
              <a:t>Ценность: непредвзятая рекомендация и охват любых задач/поставщиков → доверие.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109728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5968" y="173736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Self-service и низкий порог входа</a:t>
            </a:r>
          </a:p>
          <a:p>
            <a:pPr>
              <a:spcBef>
                <a:spcPts val="600"/>
              </a:spcBef>
            </a:pPr>
            <a:r>
              <a:rPr sz="950" b="0" i="0">
                <a:solidFill>
                  <a:srgbClr val="666666"/>
                </a:solidFill>
                <a:latin typeface="Calibri"/>
              </a:rPr>
              <a:t>Наблюдение: квантовые офферы — sales-gated консалтинг; спрос на self-service анкеты доказан (MS/AWS).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B2B2B"/>
                </a:solidFill>
                <a:latin typeface="Calibri"/>
              </a:rPr>
              <a:t>Ценность: быстрый сигнал без обязательств → масштабируемая воронка лидов.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109728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74152" y="173736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Язык бизнеса без квантовой экспертизы</a:t>
            </a:r>
          </a:p>
          <a:p>
            <a:pPr>
              <a:spcBef>
                <a:spcPts val="600"/>
              </a:spcBef>
            </a:pPr>
            <a:r>
              <a:rPr sz="950" b="0" i="0">
                <a:solidFill>
                  <a:srgbClr val="666666"/>
                </a:solidFill>
                <a:latin typeface="Calibri"/>
              </a:rPr>
              <a:t>Наблюдение: IBM/D-Wave предполагают тех-грамотность пользователя.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B2B2B"/>
                </a:solidFill>
                <a:latin typeface="Calibri"/>
              </a:rPr>
              <a:t>Ценность: доступно бизнес-заказчику; структурирует задачу в бизнес-терминах.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737360"/>
            <a:ext cx="3566160" cy="109728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3160" y="406908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Честное управление ожиданиями</a:t>
            </a:r>
          </a:p>
          <a:p>
            <a:pPr>
              <a:spcBef>
                <a:spcPts val="600"/>
              </a:spcBef>
            </a:pPr>
            <a:r>
              <a:rPr sz="950" b="0" i="0">
                <a:solidFill>
                  <a:srgbClr val="666666"/>
                </a:solidFill>
                <a:latin typeface="Calibri"/>
              </a:rPr>
              <a:t>Наблюдение: рынок перегрет хайпом, гарантий эффекта нет.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B2B2B"/>
                </a:solidFill>
                <a:latin typeface="Calibri"/>
              </a:rPr>
              <a:t>Ценность: ранний отсев неподходящих кейсов → качественные лиды и доверие.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4069080"/>
            <a:ext cx="3566160" cy="109728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90488" y="406908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Мост к экспертам + структурированный бриф</a:t>
            </a:r>
          </a:p>
          <a:p>
            <a:pPr>
              <a:spcBef>
                <a:spcPts val="600"/>
              </a:spcBef>
            </a:pPr>
            <a:r>
              <a:rPr sz="950" b="0" i="0">
                <a:solidFill>
                  <a:srgbClr val="666666"/>
                </a:solidFill>
                <a:latin typeface="Calibri"/>
              </a:rPr>
              <a:t>Наблюдение: assessment-инструменты заканчиваются отчётом и не ведут к next step.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B2B2B"/>
                </a:solidFill>
                <a:latin typeface="Calibri"/>
              </a:rPr>
              <a:t>Ценность: готовый бриф экономит время экспертов; чёткий next step и точка монетизации.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4069080"/>
            <a:ext cx="3566160" cy="109728"/>
          </a:xfrm>
          <a:prstGeom prst="round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ШАГ 4 · РЕКОМЕНДАЦИИ ДЛЯ РАЗРАБОТЧИКОВ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Что включить в первую версию (MVP)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5 / 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91639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Анкета на языке бизнеса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Модульно: задача · текущее решение и боль · масштаб, данные, ограничения · тип цели.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78024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432304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Rule-based классификатор архетипов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Оптимизация / симуляция / сэмплинг / QML → вердикт «перспективно / неочевидно / вряд ли».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18687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72968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Прозрачный скоринг + дисклеймер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Понятная логика оценки и обязательное «без гарантии эффекта».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13632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Артефакт на выходе — бриф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Одностраничный структурированный бриф задачи + предварительный вердикт для экспертов.</a:t>
            </a:r>
          </a:p>
        </p:txBody>
      </p:sp>
      <p:sp>
        <p:nvSpPr>
          <p:cNvPr id="14" name="Oval 13"/>
          <p:cNvSpPr/>
          <p:nvPr/>
        </p:nvSpPr>
        <p:spPr>
          <a:xfrm>
            <a:off x="6492240" y="1737360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1691639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Флоу хэндоффа к экспертам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Запись на консультацию / очередь экспертов + лид-капчер.</a:t>
            </a:r>
          </a:p>
        </p:txBody>
      </p:sp>
      <p:sp>
        <p:nvSpPr>
          <p:cNvPr id="16" name="Oval 15"/>
          <p:cNvSpPr/>
          <p:nvPr/>
        </p:nvSpPr>
        <p:spPr>
          <a:xfrm>
            <a:off x="6492240" y="2478024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432304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Библиотека вопросов и примеров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Типовые вопросы и use-case по отраслям (логистика, финансы, производство, life sciences).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3218687"/>
            <a:ext cx="457200" cy="457200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172968"/>
            <a:ext cx="4892040" cy="722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Сбор данных и жёсткий скоуп</a:t>
            </a:r>
          </a:p>
          <a:p>
            <a:pPr>
              <a:spcBef>
                <a:spcPts val="100"/>
              </a:spcBef>
            </a:pPr>
            <a:r>
              <a:rPr sz="980" b="0" i="0">
                <a:solidFill>
                  <a:srgbClr val="666666"/>
                </a:solidFill>
                <a:latin typeface="Calibri"/>
              </a:rPr>
              <a:t>Обезличенные анкеты → база знаний; аналитика воронки. Без интеграций и реального запуска кванта в v1.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3913632"/>
            <a:ext cx="5486400" cy="722375"/>
          </a:xfrm>
          <a:prstGeom prst="roundRect">
            <a:avLst/>
          </a:prstGeom>
          <a:solidFill>
            <a:srgbClr val="EC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/>
          <a:lstStyle/>
          <a:p>
            <a:pPr algn="ctr"/>
            <a:r>
              <a:rPr sz="1050" b="1" i="0">
                <a:solidFill>
                  <a:srgbClr val="1A3E8C"/>
                </a:solidFill>
                <a:latin typeface="Calibri"/>
              </a:rPr>
              <a:t>Принцип MVP: максимально быстрый и честный предварительный сигнал + чистый бриф для экспертов.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ПРИЛОЖЕНИЕ · КЕЙСЫ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Что конкуренты уже решают на практике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91672" cy="4206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2377440"/>
                <a:gridCol w="5029200"/>
                <a:gridCol w="1673352"/>
              </a:tblGrid>
              <a:tr h="8412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Игрок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Архетип задач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Примеры кейсов (клиент → задача)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Зрелость</a:t>
                      </a:r>
                    </a:p>
                  </a:txBody>
                  <a:tcPr marL="73152" marR="73152" marT="36576" marB="36576" anchor="ctr">
                    <a:solidFill>
                      <a:srgbClr val="1A3E8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3E8C"/>
                          </a:solidFill>
                          <a:latin typeface="Calibri"/>
                        </a:rPr>
                        <a:t>D-Wave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Комбинаторная оптимизация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Save-On-Foods (расписания, −80% времени) · Port of LA · NTT DOCOMO (−15% сигналов) · Ford Otosan · VW (трафик, paint shop) · DENSO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Есть продакшен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3E8C"/>
                          </a:solidFill>
                          <a:latin typeface="Calibri"/>
                        </a:rPr>
                        <a:t>IBM Quantum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Симуляция + финансы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Boeing (коррозия) · Mercedes (батареи) · Mitsubishi/JSR (OLED) · JPMorgan · HSBC · Cleveland Clinic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В осн. research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3E8C"/>
                          </a:solidFill>
                          <a:latin typeface="Calibri"/>
                        </a:rPr>
                        <a:t>Multiverse / QC Ware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Финансы, энергетика, химия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BBVA (портфель) · Iberdrola (батареи в сети) · Telefónica (сжатие LLM) · Goldman Sachs · Covestro · Aisin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PoC / пилоты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3E8C"/>
                          </a:solidFill>
                          <a:latin typeface="Calibri"/>
                        </a:rPr>
                        <a:t>MS AI Readiness / AWS WA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Не квантовые — self-service ассессмент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Не отраслевые кейсы, а эталон формата: анкета по pillars → скоринг → приоритизированный отчёт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B2B2B"/>
                          </a:solidFill>
                          <a:latin typeface="Calibri"/>
                        </a:rPr>
                        <a:t>Массовый продукт</a:t>
                      </a:r>
                    </a:p>
                  </a:txBody>
                  <a:tcPr marL="73152" marR="73152" marT="36576" marB="36576" anchor="ctr"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1">
                <a:solidFill>
                  <a:srgbClr val="666666"/>
                </a:solidFill>
                <a:latin typeface="Calibri"/>
              </a:rPr>
              <a:t>Цифры — заявления вендоров/партнёров (PoC/research-стадия), не аудированный production-ROI. Реально «в проде» — преимущественно оптимизация (D-Wave).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ПРИЛОЖЕНИЕ · ПРОЦЕСС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Как конкуренты выстраивают процесс с клиентом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7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542032" cy="868680"/>
          </a:xfrm>
          <a:prstGeom prst="roundRect">
            <a:avLst/>
          </a:prstGeom>
          <a:solidFill>
            <a:srgbClr val="1A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1. Discovery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(поиск задачи)</a:t>
            </a:r>
          </a:p>
        </p:txBody>
      </p:sp>
      <p:sp>
        <p:nvSpPr>
          <p:cNvPr id="7" name="Chevron 6"/>
          <p:cNvSpPr/>
          <p:nvPr/>
        </p:nvSpPr>
        <p:spPr>
          <a:xfrm>
            <a:off x="3108960" y="1993392"/>
            <a:ext cx="256032" cy="457200"/>
          </a:xfrm>
          <a:prstGeom prst="chevron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92424" y="1783080"/>
            <a:ext cx="2542032" cy="868680"/>
          </a:xfrm>
          <a:prstGeom prst="roundRect">
            <a:avLst/>
          </a:prstGeom>
          <a:solidFill>
            <a:srgbClr val="1A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2. Assessment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(оценка применимости)</a:t>
            </a:r>
          </a:p>
        </p:txBody>
      </p:sp>
      <p:sp>
        <p:nvSpPr>
          <p:cNvPr id="9" name="Chevron 8"/>
          <p:cNvSpPr/>
          <p:nvPr/>
        </p:nvSpPr>
        <p:spPr>
          <a:xfrm>
            <a:off x="5952744" y="1993392"/>
            <a:ext cx="256032" cy="457200"/>
          </a:xfrm>
          <a:prstGeom prst="chevron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783080"/>
            <a:ext cx="2542032" cy="868680"/>
          </a:xfrm>
          <a:prstGeom prst="roundRect">
            <a:avLst/>
          </a:prstGeom>
          <a:solidFill>
            <a:srgbClr val="1A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3. PoC / Pilot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(прототип на данных)</a:t>
            </a:r>
          </a:p>
        </p:txBody>
      </p:sp>
      <p:sp>
        <p:nvSpPr>
          <p:cNvPr id="11" name="Chevron 10"/>
          <p:cNvSpPr/>
          <p:nvPr/>
        </p:nvSpPr>
        <p:spPr>
          <a:xfrm>
            <a:off x="8796528" y="1993392"/>
            <a:ext cx="256032" cy="457200"/>
          </a:xfrm>
          <a:prstGeom prst="chevron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079992" y="1783080"/>
            <a:ext cx="2542032" cy="868680"/>
          </a:xfrm>
          <a:prstGeom prst="roundRect">
            <a:avLst/>
          </a:prstGeom>
          <a:solidFill>
            <a:srgbClr val="1A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4. Production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(внедрение, сопровождение)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43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Calibri"/>
              </a:rPr>
              <a:t>Общая схема у всех квантовых игроков — консалтинго-ведомая, sales-gated, требует тех-грамотности клиента.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46120"/>
            <a:ext cx="53492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00" b="1" i="0">
                <a:solidFill>
                  <a:srgbClr val="1A3E8C"/>
                </a:solidFill>
                <a:latin typeface="Calibri"/>
              </a:rPr>
              <a:t>D-Wave Launch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Проф. услуги: эксперты «переводят» задачу в QUBO; доставка через облако Leap.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3246120"/>
            <a:ext cx="53492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00" b="1" i="0">
                <a:solidFill>
                  <a:srgbClr val="1A3E8C"/>
                </a:solidFill>
                <a:latin typeface="Calibri"/>
              </a:rPr>
              <a:t>IBM Quantum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Членство (Network) + доменные working groups + обучение Quantum Business Foundations.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06240"/>
            <a:ext cx="53492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00" b="1" i="0">
                <a:solidFill>
                  <a:srgbClr val="1A3E8C"/>
                </a:solidFill>
                <a:latin typeface="Calibri"/>
              </a:rPr>
              <a:t>Multiverse / QC Ware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Продукт (Singularity / Forge) + консалтинг; discovery → PoC → deployment.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4206240"/>
            <a:ext cx="53492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00" b="1" i="0">
                <a:solidFill>
                  <a:srgbClr val="1A3E8C"/>
                </a:solidFill>
                <a:latin typeface="Calibri"/>
              </a:rPr>
              <a:t>MS / AWS (эталон)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Self-service анкета по pillars, без консультанта; хэндофф к партнёрам.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03520"/>
            <a:ext cx="11091672" cy="91440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300" b="1" i="0">
                <a:solidFill>
                  <a:srgbClr val="2D6CDF"/>
                </a:solidFill>
                <a:latin typeface="Calibri"/>
              </a:rPr>
              <a:t>Наш сдвиг (Q-Scope):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2B2B2B"/>
                </a:solidFill>
                <a:latin typeface="Calibri"/>
              </a:rPr>
              <a:t>Self-service анкета на входе вместо sales-gated discovery → быстро и дёшево квалифицируем задачу, дальше — структурированный бриф к экспертам. Vendor-нейтрально.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ПРИЛОЖЕНИЕ · ДВИЖОК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Движок приоритизации инициатив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8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5778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Шаг 1. Gate-фильтры (любое «нет» → не для кванта)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2B2B2B"/>
                </a:solidFill>
                <a:latin typeface="Calibri"/>
              </a:rPr>
              <a:t>1. Классика провисает (экспоненциально / NP-трудно)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2B2B2B"/>
                </a:solidFill>
                <a:latin typeface="Calibri"/>
              </a:rPr>
              <a:t>2. Формализуемо как QUBO / Hamiltonian (цель + ограничения)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2B2B2B"/>
                </a:solidFill>
                <a:latin typeface="Calibri"/>
              </a:rPr>
              <a:t>3. Нет I/O-bottleneck (вход мал относительно пространства решений)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11880"/>
            <a:ext cx="557784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/>
          <a:lstStyle/>
          <a:p>
            <a:pPr algn="ctr"/>
            <a:r>
              <a:rPr sz="1250" b="1" i="0">
                <a:solidFill>
                  <a:srgbClr val="1A3E8C"/>
                </a:solidFill>
                <a:latin typeface="Calibri"/>
              </a:rPr>
              <a:t>Шаг 2. Взвешенный скоринг (0–5)</a:t>
            </a:r>
          </a:p>
          <a:p>
            <a:pPr>
              <a:spcBef>
                <a:spcPts val="500"/>
              </a:spcBef>
            </a:pPr>
            <a:r>
              <a:rPr sz="1050" b="1" i="0">
                <a:solidFill>
                  <a:srgbClr val="2D6CDF"/>
                </a:solidFill>
                <a:latin typeface="Calibri"/>
              </a:rPr>
              <a:t>25%  </a:t>
            </a:r>
            <a:r>
              <a:rPr sz="1050" b="0" i="0">
                <a:solidFill>
                  <a:srgbClr val="2B2B2B"/>
                </a:solidFill>
                <a:latin typeface="Calibri"/>
              </a:rPr>
              <a:t>Бизнес-ценность / ROI</a:t>
            </a:r>
          </a:p>
          <a:p>
            <a:pPr>
              <a:spcBef>
                <a:spcPts val="500"/>
              </a:spcBef>
            </a:pPr>
            <a:r>
              <a:rPr sz="1050" b="1" i="0">
                <a:solidFill>
                  <a:srgbClr val="2D6CDF"/>
                </a:solidFill>
                <a:latin typeface="Calibri"/>
              </a:rPr>
              <a:t>25%  </a:t>
            </a:r>
            <a:r>
              <a:rPr sz="1050" b="0" i="0">
                <a:solidFill>
                  <a:srgbClr val="2B2B2B"/>
                </a:solidFill>
                <a:latin typeface="Calibri"/>
              </a:rPr>
              <a:t>Классическая твёрдость + speedup</a:t>
            </a:r>
          </a:p>
          <a:p>
            <a:pPr>
              <a:spcBef>
                <a:spcPts val="500"/>
              </a:spcBef>
            </a:pPr>
            <a:r>
              <a:rPr sz="1050" b="1" i="0">
                <a:solidFill>
                  <a:srgbClr val="2D6CDF"/>
                </a:solidFill>
                <a:latin typeface="Calibri"/>
              </a:rPr>
              <a:t>15%  </a:t>
            </a:r>
            <a:r>
              <a:rPr sz="1050" b="0" i="0">
                <a:solidFill>
                  <a:srgbClr val="2B2B2B"/>
                </a:solidFill>
                <a:latin typeface="Calibri"/>
              </a:rPr>
              <a:t>Архетип-fit (симуляция/оптимизация ≫ QML)</a:t>
            </a:r>
          </a:p>
          <a:p>
            <a:pPr>
              <a:spcBef>
                <a:spcPts val="500"/>
              </a:spcBef>
            </a:pPr>
            <a:r>
              <a:rPr sz="1050" b="1" i="0">
                <a:solidFill>
                  <a:srgbClr val="2D6CDF"/>
                </a:solidFill>
                <a:latin typeface="Calibri"/>
              </a:rPr>
              <a:t>15%  </a:t>
            </a:r>
            <a:r>
              <a:rPr sz="1050" b="0" i="0">
                <a:solidFill>
                  <a:srgbClr val="2B2B2B"/>
                </a:solidFill>
                <a:latin typeface="Calibri"/>
              </a:rPr>
              <a:t>Реализуемость (NISQ сейчас vs FT)</a:t>
            </a:r>
          </a:p>
          <a:p>
            <a:pPr>
              <a:spcBef>
                <a:spcPts val="500"/>
              </a:spcBef>
            </a:pPr>
            <a:r>
              <a:rPr sz="1050" b="1" i="0">
                <a:solidFill>
                  <a:srgbClr val="2D6CDF"/>
                </a:solidFill>
                <a:latin typeface="Calibri"/>
              </a:rPr>
              <a:t>10%  </a:t>
            </a:r>
            <a:r>
              <a:rPr sz="1050" b="0" i="0">
                <a:solidFill>
                  <a:srgbClr val="2B2B2B"/>
                </a:solidFill>
                <a:latin typeface="Calibri"/>
              </a:rPr>
              <a:t>Готовность данных/инфры/команды</a:t>
            </a:r>
          </a:p>
          <a:p>
            <a:pPr>
              <a:spcBef>
                <a:spcPts val="500"/>
              </a:spcBef>
            </a:pPr>
            <a:r>
              <a:rPr sz="1050" b="1" i="0">
                <a:solidFill>
                  <a:srgbClr val="2D6CDF"/>
                </a:solidFill>
                <a:latin typeface="Calibri"/>
              </a:rPr>
              <a:t>10%  </a:t>
            </a:r>
            <a:r>
              <a:rPr sz="1050" b="0" i="0">
                <a:solidFill>
                  <a:srgbClr val="2B2B2B"/>
                </a:solidFill>
                <a:latin typeface="Calibri"/>
              </a:rPr>
              <a:t>Допустимость приближённого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1810512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A3E8C"/>
                </a:solidFill>
                <a:latin typeface="Calibri"/>
              </a:rPr>
              <a:t>Шаг 3. Матрица 2×2 → приоритет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2240280"/>
            <a:ext cx="2148840" cy="2148840"/>
          </a:xfrm>
          <a:prstGeom prst="roundRect">
            <a:avLst/>
          </a:prstGeom>
          <a:solidFill>
            <a:srgbClr val="ECF1F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1A3E8C"/>
                </a:solidFill>
                <a:latin typeface="Calibri"/>
              </a:rPr>
              <a:t>Watchlist / glide 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5984" y="2240280"/>
            <a:ext cx="2148840" cy="2148840"/>
          </a:xfrm>
          <a:prstGeom prst="roundRect">
            <a:avLst/>
          </a:prstGeom>
          <a:solidFill>
            <a:srgbClr val="2D6CD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PoC сейчас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443984"/>
            <a:ext cx="2148840" cy="2148840"/>
          </a:xfrm>
          <a:prstGeom prst="roundRect">
            <a:avLst/>
          </a:prstGeom>
          <a:solidFill>
            <a:srgbClr val="EEEFF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Отбросить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15984" y="4443984"/>
            <a:ext cx="2148840" cy="2148840"/>
          </a:xfrm>
          <a:prstGeom prst="roundRect">
            <a:avLst/>
          </a:prstGeom>
          <a:solidFill>
            <a:srgbClr val="ECF1F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1A3E8C"/>
                </a:solidFill>
                <a:latin typeface="Calibri"/>
              </a:rPr>
              <a:t>Классический / гибридный солвер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94767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 i="0">
                <a:solidFill>
                  <a:srgbClr val="666666"/>
                </a:solidFill>
                <a:latin typeface="Calibri"/>
              </a:rPr>
              <a:t>↑ Квантовый потенциал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6702552"/>
            <a:ext cx="43525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666666"/>
                </a:solidFill>
                <a:latin typeface="Calibri"/>
              </a:rPr>
              <a:t>Бизнес-ценность / реализуемость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ПРИЛОЖЕНИЕ · MVP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Бриф задачи и подготовка клиента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7607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/>
          <a:lstStyle/>
          <a:p>
            <a:pPr algn="ctr"/>
            <a:r>
              <a:rPr sz="1300" b="1" i="0">
                <a:solidFill>
                  <a:srgbClr val="1A3E8C"/>
                </a:solidFill>
                <a:latin typeface="Calibri"/>
              </a:rPr>
              <a:t>Структура брифа (12 секций)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Владелец задачи и роли (кто решает, кто платит)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Бизнес-задача в одном предложении: «как есть» → «как надо»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Текущее решение и боль (время / стоимость / качество)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Тип задачи и цель (что значит «лучше»)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Переменные решения (что можно менять)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Ограничения (жёсткие / мягкие)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Масштаб (сколько объектов; рост со временем)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Данные (объём, формат, доступность, чувствительность)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Метрика успеха и базовая линия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Частота и режим (разово / real-time)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Экономика (стоимость, цена ошибки, эффект)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2B2B2B"/>
                </a:solidFill>
                <a:latin typeface="Calibri"/>
              </a:rPr>
              <a:t>•  Готовность и ограничения (ИТ, бюджет, комплаенс)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83080"/>
            <a:ext cx="5148072" cy="443484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300" b="1" i="0">
                <a:solidFill>
                  <a:srgbClr val="2D6CDF"/>
                </a:solidFill>
                <a:latin typeface="Calibri"/>
              </a:rPr>
              <a:t>Кого пригласить и что подготовить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Бизнес-заказчик — боль, метрика, эффект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Профильные операции — как устроен процесс, ограничения, объёмы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Владелец данных — какие данные, объём, качество, доступ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ИТ / инфраструктура — где данные, интеграции, безопасность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Финансы — стоимость текущего решения, цена ошибки, ROI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Комплаенс (опц.) — ограничения на данные</a:t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030" b="0" i="0">
                <a:solidFill>
                  <a:srgbClr val="2B2B2B"/>
                </a:solidFill>
                <a:latin typeface="Calibri"/>
              </a:rPr>
              <a:t>Сервис выдаёт этот чек-лист, чтобы клиент пришёл подготовленным и собрал нужные службы.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686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D6CDF"/>
                </a:solidFill>
                <a:latin typeface="Calibri"/>
              </a:rPr>
              <a:t>ПРИЛОЖЕНИЕ · MVP</a:t>
            </a:r>
          </a:p>
          <a:p>
            <a:pPr>
              <a:spcBef>
                <a:spcPts val="200"/>
              </a:spcBef>
            </a:pPr>
            <a:r>
              <a:rPr sz="2600" b="1" i="0">
                <a:solidFill>
                  <a:srgbClr val="1A3E8C"/>
                </a:solidFill>
                <a:latin typeface="Calibri"/>
              </a:rPr>
              <a:t>Адаптивная анкета без брифа (чат-бот «Акинатор»)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1091672" cy="177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3550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10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6766560" cy="54864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0: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Отрасль и роль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04872"/>
            <a:ext cx="6766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1: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Тип задачи → архетип: оптимизация / симуляция / сэмплинг / 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26664"/>
            <a:ext cx="6766560" cy="54864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2: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Признаки комбинаторного взрыва и боль классики (gate G1)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48456"/>
            <a:ext cx="6766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3: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Формализуемость: цель + переменные + ограничения (gate G2)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70248"/>
            <a:ext cx="6766560" cy="54864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4: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Данные и I/O-bottleneck (gate G3)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6766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5: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Масштаб, частота, экономика → бизнес-ценность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13831"/>
            <a:ext cx="6766560" cy="548640"/>
          </a:xfrm>
          <a:prstGeom prst="roundRect">
            <a:avLst/>
          </a:prstGeom>
          <a:solidFill>
            <a:srgbClr val="ECF1FB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8288" bIns="18288"/>
          <a:lstStyle/>
          <a:p>
            <a:pPr algn="ctr"/>
            <a:r>
              <a:rPr sz="1050" b="1" i="0">
                <a:solidFill>
                  <a:srgbClr val="2D6CDF"/>
                </a:solidFill>
                <a:latin typeface="Calibri"/>
              </a:rPr>
              <a:t>Уровень 6:  </a:t>
            </a:r>
            <a:r>
              <a:rPr sz="1000" b="0" i="0">
                <a:solidFill>
                  <a:srgbClr val="2B2B2B"/>
                </a:solidFill>
                <a:latin typeface="Calibri"/>
              </a:rPr>
              <a:t>Готовность: данные / ИТ / команда / комплаенс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83080"/>
            <a:ext cx="4096512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00" b="1" i="0">
                <a:solidFill>
                  <a:srgbClr val="1A3E8C"/>
                </a:solidFill>
                <a:latin typeface="Calibri"/>
              </a:rPr>
              <a:t>Принцип (как Акинатор)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2B2B2B"/>
                </a:solidFill>
                <a:latin typeface="Calibri"/>
              </a:rPr>
              <a:t>От общего к частному, ветвление по ответам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2B2B2B"/>
                </a:solidFill>
                <a:latin typeface="Calibri"/>
              </a:rPr>
              <a:t>Закрытые ответы → детерминированный скоринг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2B2B2B"/>
                </a:solidFill>
                <a:latin typeface="Calibri"/>
              </a:rPr>
              <a:t>«Не знаю» не блокирует; живой индикатор «похоже на…»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2B2B2B"/>
                </a:solidFill>
                <a:latin typeface="Calibri"/>
              </a:rPr>
              <a:t>8–15 вопросов до результата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749039"/>
            <a:ext cx="4096512" cy="2468880"/>
          </a:xfrm>
          <a:prstGeom prst="roundRect">
            <a:avLst/>
          </a:prstGeom>
          <a:solidFill>
            <a:srgbClr val="1E8E5A"/>
          </a:solidFill>
          <a:ln w="12700">
            <a:solidFill>
              <a:srgbClr val="D9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7315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Выход: сценарий + эффект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FFFFFF"/>
                </a:solidFill>
                <a:latin typeface="Calibri"/>
              </a:rPr>
              <a:t>Вердикт: Перспективно → PoC · Watchlist · Классики достаточно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FFFFFF"/>
                </a:solidFill>
                <a:latin typeface="Calibri"/>
              </a:rPr>
              <a:t>Сценарий: «ваша задача — {подтип}, формализуется как QUBO, подход — гибридный солвер, похоже на {референс-кейс}»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FFFFFF"/>
                </a:solidFill>
                <a:latin typeface="Calibri"/>
              </a:rPr>
              <a:t>Оценка эффекта (вилка по аналогии) — не гарантия</a:t>
            </a:r>
          </a:p>
          <a:p>
            <a:pPr>
              <a:spcBef>
                <a:spcPts val="400"/>
              </a:spcBef>
            </a:pPr>
            <a:r>
              <a:rPr sz="980" b="0" i="0">
                <a:solidFill>
                  <a:srgbClr val="FFFFFF"/>
                </a:solidFill>
                <a:latin typeface="Calibri"/>
              </a:rPr>
              <a:t>Кого позвать + кнопка «передать экспертам» → авто-бриф (PDF)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