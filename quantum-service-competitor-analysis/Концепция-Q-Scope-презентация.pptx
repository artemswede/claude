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3312871"/>
            <a:ext cx="3383280" cy="1420977"/>
          </a:xfrm>
          <a:prstGeom prst="ellipse">
            <a:avLst/>
          </a:prstGeom>
          <a:noFill/>
          <a:ln w="21590">
            <a:solidFill>
              <a:srgbClr val="CFD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3600000">
            <a:off x="8001000" y="3312871"/>
            <a:ext cx="3383280" cy="1420977"/>
          </a:xfrm>
          <a:prstGeom prst="ellipse">
            <a:avLst/>
          </a:prstGeom>
          <a:noFill/>
          <a:ln w="21590">
            <a:solidFill>
              <a:srgbClr val="CFD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18000000">
            <a:off x="8001000" y="3312871"/>
            <a:ext cx="3383280" cy="1420977"/>
          </a:xfrm>
          <a:prstGeom prst="ellipse">
            <a:avLst/>
          </a:prstGeom>
          <a:noFill/>
          <a:ln w="21590">
            <a:solidFill>
              <a:srgbClr val="CFD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0479" y="3651199"/>
            <a:ext cx="744321" cy="744321"/>
          </a:xfrm>
          <a:prstGeom prst="ellipse">
            <a:avLst/>
          </a:prstGeom>
          <a:solidFill>
            <a:srgbClr val="CFD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1005840" cy="100584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303" y="1166097"/>
            <a:ext cx="543153" cy="228124"/>
          </a:xfrm>
          <a:prstGeom prst="ellipse">
            <a:avLst/>
          </a:prstGeom>
          <a:noFill/>
          <a:ln w="2159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3600000">
            <a:off x="1054303" y="1166097"/>
            <a:ext cx="543153" cy="228124"/>
          </a:xfrm>
          <a:prstGeom prst="ellipse">
            <a:avLst/>
          </a:prstGeom>
          <a:noFill/>
          <a:ln w="2159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00">
            <a:off x="1054303" y="1166097"/>
            <a:ext cx="543153" cy="228124"/>
          </a:xfrm>
          <a:prstGeom prst="ellipse">
            <a:avLst/>
          </a:prstGeom>
          <a:noFill/>
          <a:ln w="2159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6133" y="1220413"/>
            <a:ext cx="119493" cy="119493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96926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Calibri"/>
              </a:rPr>
              <a:t>ТЕСТОВОЕ ЗАДАНИЕ · БИЗНЕС-АНАЛИТИК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79552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22A5E"/>
                </a:solidFill>
                <a:latin typeface="Calibri"/>
              </a:rPr>
              <a:t>Концепция и оценка конкурентного</a:t>
            </a:r>
          </a:p>
          <a:p>
            <a:r>
              <a:rPr sz="3000" b="1" i="0">
                <a:solidFill>
                  <a:srgbClr val="122A5E"/>
                </a:solidFill>
                <a:latin typeface="Calibri"/>
              </a:rPr>
              <a:t>окружения сервиса для квалификации</a:t>
            </a:r>
          </a:p>
          <a:p>
            <a:r>
              <a:rPr sz="3000" b="1" i="0">
                <a:solidFill>
                  <a:srgbClr val="122A5E"/>
                </a:solidFill>
                <a:latin typeface="Calibri"/>
              </a:rPr>
              <a:t>квантовых задач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4114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92E38"/>
                </a:solidFill>
                <a:latin typeface="Calibri"/>
              </a:rPr>
              <a:t>Тестовое задание на позицию бизнес-аналитика в продуктовую команду.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Кому и зачем: продуктовой команде — концепция продукта и анализ конкурентного окружения,</a:t>
            </a:r>
          </a:p>
          <a:p>
            <a:r>
              <a:rPr sz="1200" b="0" i="0">
                <a:solidFill>
                  <a:srgbClr val="6B7280"/>
                </a:solidFill>
                <a:latin typeface="Calibri"/>
              </a:rPr>
              <a:t>чтобы определить отличия сервиса и состав первой версии (MVP).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563EB"/>
                </a:solidFill>
                <a:latin typeface="Calibri"/>
              </a:rPr>
              <a:t>Рабочее название продукта: Q-Scope   ·   июнь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345" y="722193"/>
            <a:ext cx="309597" cy="309597"/>
          </a:xfrm>
          <a:prstGeom prst="ellipse">
            <a:avLst/>
          </a:prstGeom>
          <a:noFill/>
          <a:ln w="304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700000">
            <a:off x="1029888" y="956736"/>
            <a:ext cx="159489" cy="60981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ШАГ 1 · ВЫБОР КОНКУРЕНТОВ И АНАЛОГОВ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Сервисы-референсы: кого взяли и почему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56717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2567178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057400"/>
            <a:ext cx="731520" cy="73152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Gear 6 11"/>
          <p:cNvSpPr/>
          <p:nvPr/>
        </p:nvSpPr>
        <p:spPr>
          <a:xfrm>
            <a:off x="881481" y="2225649"/>
            <a:ext cx="395020" cy="395020"/>
          </a:xfrm>
          <a:prstGeom prst="gear6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880360"/>
            <a:ext cx="223799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5E"/>
                </a:solidFill>
                <a:latin typeface="Calibri"/>
              </a:rPr>
              <a:t>D-Wave (Launch + Professional Services)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Тип решения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Квантовый вендор + консалтинг (проф. услуги)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Статус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Прямой конкурент (ближайший)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Причина выбора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Уже оказывает услугу use-case identification &amp; assessment — эталон самой квалификации задачи.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138" y="1783080"/>
            <a:ext cx="256717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90138" y="1783080"/>
            <a:ext cx="2567178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4730" y="2057400"/>
            <a:ext cx="731520" cy="73152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Cloud 16"/>
          <p:cNvSpPr/>
          <p:nvPr/>
        </p:nvSpPr>
        <p:spPr>
          <a:xfrm>
            <a:off x="3722979" y="2225649"/>
            <a:ext cx="395020" cy="395020"/>
          </a:xfrm>
          <a:prstGeom prst="cloud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4730" y="2880360"/>
            <a:ext cx="223799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5E"/>
                </a:solidFill>
                <a:latin typeface="Calibri"/>
              </a:rPr>
              <a:t>IBM Quantum (Network, QBF)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Тип решения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Облачная платформа + экосистема и обучение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Статус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Альтернативный способ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Причина выбора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Формирует спрос через курс Quantum Business Foundations и working groups — «обучение + сообщество».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783080"/>
            <a:ext cx="256717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1636" y="1783080"/>
            <a:ext cx="2567178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6227" y="2057400"/>
            <a:ext cx="731520" cy="73152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Cube 21"/>
          <p:cNvSpPr/>
          <p:nvPr/>
        </p:nvSpPr>
        <p:spPr>
          <a:xfrm>
            <a:off x="6564477" y="2225649"/>
            <a:ext cx="395020" cy="395020"/>
          </a:xfrm>
          <a:prstGeom prst="cub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6227" y="2880360"/>
            <a:ext cx="223799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5E"/>
                </a:solidFill>
                <a:latin typeface="Calibri"/>
              </a:rPr>
              <a:t>Multiverse / QC Ware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Тип решения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Вендор квантового ПО + консалтинг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Статус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Косвенный аналог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Причина выбора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Чёткая модель discovery → PoC и quantum-inspired «ценность уже сегодня».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3134" y="1783080"/>
            <a:ext cx="256717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3134" y="1783080"/>
            <a:ext cx="2567178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7726" y="2057400"/>
            <a:ext cx="731520" cy="73152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Folded Corner 26"/>
          <p:cNvSpPr/>
          <p:nvPr/>
        </p:nvSpPr>
        <p:spPr>
          <a:xfrm>
            <a:off x="9405975" y="2225649"/>
            <a:ext cx="395020" cy="395020"/>
          </a:xfrm>
          <a:prstGeom prst="foldedCorner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7726" y="2880360"/>
            <a:ext cx="223799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5E"/>
                </a:solidFill>
                <a:latin typeface="Calibri"/>
              </a:rPr>
              <a:t>MS AI Readiness / AWS Well-Architected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Тип решения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Бесплатный self-service инструмент-ассессмент (другая индустрия)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Статус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Альтернативный способ + ориентир по формату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2563EB"/>
                </a:solidFill>
                <a:latin typeface="Calibri"/>
              </a:rPr>
              <a:t>Причина выбора</a:t>
            </a:r>
          </a:p>
          <a:p>
            <a:pPr>
              <a:spcBef>
                <a:spcPts val="100"/>
              </a:spcBef>
            </a:pPr>
            <a:r>
              <a:rPr sz="930" b="0" i="0">
                <a:solidFill>
                  <a:srgbClr val="292E38"/>
                </a:solidFill>
                <a:latin typeface="Calibri"/>
              </a:rPr>
              <a:t>Идеальное анкетирование: pillars → скоринг → отчёт. UX-эталон формата для нас.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1890" y="698738"/>
            <a:ext cx="187634" cy="18763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1890" y="933282"/>
            <a:ext cx="187634" cy="18763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6434" y="698738"/>
            <a:ext cx="187634" cy="18763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6434" y="933282"/>
            <a:ext cx="187634" cy="18763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ШАГ 2 · СРАВНИТЕЛЬНЫЙ АНАЛИЗ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Сравнительная матрица по критериям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64208"/>
          <a:ext cx="11091672" cy="4617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2292858"/>
                <a:gridCol w="2292858"/>
                <a:gridCol w="2292858"/>
                <a:gridCol w="2292858"/>
              </a:tblGrid>
              <a:tr h="65967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D-Wave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IBM Quantum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Multiverse / QC Ware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MS / AWS (ассессмент)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122A5E"/>
                          </a:solidFill>
                          <a:latin typeface="Calibri"/>
                        </a:rPr>
                        <a:t>Целевая аудитория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Enterprise: операции + бизнес-спонсоры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Разработчики, R&amp;D, инноваторы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Крупный enterprise (фин/энерго/пром)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Бизнес + IT, широкий self-service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122A5E"/>
                          </a:solidFill>
                          <a:latin typeface="Calibri"/>
                        </a:rPr>
                        <a:t>Ценностное предложение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От задачи до продакшена на своём кванте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Облачный доступ + обучение и экосистема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Готовое квантовое/q-inspired решение под задачу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Быстрая самооценка готовности без консультанта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122A5E"/>
                          </a:solidFill>
                          <a:latin typeface="Calibri"/>
                        </a:rPr>
                        <a:t>Клиентские задачи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Оптимизация (расписания, логистика)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Симуляция химии, оптимизация, ML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Портфель, риск, оптимизация, химия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Оценка зрелости / архитектуры по pillars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122A5E"/>
                          </a:solidFill>
                          <a:latin typeface="Calibri"/>
                        </a:rPr>
                        <a:t>Ключевые отрасли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Производство, логистика, финансы, госсектор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Life sciences, материалы, финансы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Финансы, энергетика, промышленность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Кросс-отраслевые (агностик)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122A5E"/>
                          </a:solidFill>
                          <a:latin typeface="Calibri"/>
                        </a:rPr>
                        <a:t>Ориентир для нас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Сама услуга оценки use-case + отраслевые примеры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Обучающий контент и типовые вопросы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Разбивка задач на архетипы; «ценность сегодня»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Формат анкеты, скоринг, приоритизированный отчёт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122A5E"/>
                          </a:solidFill>
                          <a:latin typeface="Calibri"/>
                        </a:rPr>
                        <a:t>Порог входа / модель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Высокий; консалтинг + доступ к железу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Средний-высокий; членство + cloud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Высокий; проектный консалтинг / лицензии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>
                          <a:solidFill>
                            <a:srgbClr val="292E38"/>
                          </a:solidFill>
                          <a:latin typeface="Calibri"/>
                        </a:rPr>
                        <a:t>Низкий; бесплатно, self-service (лид-ген)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48436" y="675284"/>
            <a:ext cx="469087" cy="469087"/>
          </a:xfrm>
          <a:prstGeom prst="star5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ШАГ 3 · КОНКУРЕНТНЫЕ ПРЕИМУЩЕСТВА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Чем Q-Scope выделяется на рынке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566160" cy="91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984248"/>
            <a:ext cx="566928" cy="566928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&quot;No&quot; Symbol 10"/>
          <p:cNvSpPr/>
          <p:nvPr/>
        </p:nvSpPr>
        <p:spPr>
          <a:xfrm>
            <a:off x="825337" y="2114641"/>
            <a:ext cx="306141" cy="306141"/>
          </a:xfrm>
          <a:prstGeom prst="noSmoking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196596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Независимость от вендоров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15768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30" b="1" i="0">
                <a:solidFill>
                  <a:srgbClr val="2563EB"/>
                </a:solidFill>
                <a:latin typeface="Calibri"/>
              </a:rPr>
              <a:t>Наблюдение: </a:t>
            </a:r>
            <a:r>
              <a:rPr sz="930" b="0" i="0">
                <a:solidFill>
                  <a:srgbClr val="6B7280"/>
                </a:solidFill>
                <a:latin typeface="Calibri"/>
              </a:rPr>
              <a:t>Конкуренты привязывают оценку к своему железу/платформе.</a:t>
            </a:r>
          </a:p>
          <a:p>
            <a:pPr>
              <a:spcBef>
                <a:spcPts val="400"/>
              </a:spcBef>
            </a:pPr>
            <a:r>
              <a:rPr sz="960" b="1" i="0">
                <a:solidFill>
                  <a:srgbClr val="2563EB"/>
                </a:solidFill>
                <a:latin typeface="Calibri"/>
              </a:rPr>
              <a:t>Ценность: </a:t>
            </a:r>
            <a:r>
              <a:rPr sz="960" b="0" i="0">
                <a:solidFill>
                  <a:srgbClr val="292E38"/>
                </a:solidFill>
                <a:latin typeface="Calibri"/>
              </a:rPr>
              <a:t>Непредвзятая рекомендация и охват любых задач и поставщиков → доверие.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1783080"/>
            <a:ext cx="3566160" cy="91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2272" y="1984248"/>
            <a:ext cx="566928" cy="566928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Lightning Bolt 16"/>
          <p:cNvSpPr/>
          <p:nvPr/>
        </p:nvSpPr>
        <p:spPr>
          <a:xfrm>
            <a:off x="4592665" y="2114641"/>
            <a:ext cx="306141" cy="306141"/>
          </a:xfrm>
          <a:prstGeom prst="lightningBol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96596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Сниженный порог входа (self-service)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715768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30" b="1" i="0">
                <a:solidFill>
                  <a:srgbClr val="2563EB"/>
                </a:solidFill>
                <a:latin typeface="Calibri"/>
              </a:rPr>
              <a:t>Наблюдение: </a:t>
            </a:r>
            <a:r>
              <a:rPr sz="930" b="0" i="0">
                <a:solidFill>
                  <a:srgbClr val="6B7280"/>
                </a:solidFill>
                <a:latin typeface="Calibri"/>
              </a:rPr>
              <a:t>Квантовые офферы — sales-gated консалтинг; спрос на self-service анкеты доказан (MS/AWS).</a:t>
            </a:r>
          </a:p>
          <a:p>
            <a:pPr>
              <a:spcBef>
                <a:spcPts val="400"/>
              </a:spcBef>
            </a:pPr>
            <a:r>
              <a:rPr sz="960" b="1" i="0">
                <a:solidFill>
                  <a:srgbClr val="2563EB"/>
                </a:solidFill>
                <a:latin typeface="Calibri"/>
              </a:rPr>
              <a:t>Ценность: </a:t>
            </a:r>
            <a:r>
              <a:rPr sz="960" b="0" i="0">
                <a:solidFill>
                  <a:srgbClr val="292E38"/>
                </a:solidFill>
                <a:latin typeface="Calibri"/>
              </a:rPr>
              <a:t>Быстрый сигнал без обязательств → масштабируемая воронка лидов.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1783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4152" y="1783080"/>
            <a:ext cx="3566160" cy="91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0456" y="1984248"/>
            <a:ext cx="566928" cy="566928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ular Callout 22"/>
          <p:cNvSpPr/>
          <p:nvPr/>
        </p:nvSpPr>
        <p:spPr>
          <a:xfrm>
            <a:off x="8350849" y="2114641"/>
            <a:ext cx="306141" cy="306141"/>
          </a:xfrm>
          <a:prstGeom prst="wedgeRoundRectCallou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196596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Язык бизнеса, без квантовой физики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715768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30" b="1" i="0">
                <a:solidFill>
                  <a:srgbClr val="2563EB"/>
                </a:solidFill>
                <a:latin typeface="Calibri"/>
              </a:rPr>
              <a:t>Наблюдение: </a:t>
            </a:r>
            <a:r>
              <a:rPr sz="930" b="0" i="0">
                <a:solidFill>
                  <a:srgbClr val="6B7280"/>
                </a:solidFill>
                <a:latin typeface="Calibri"/>
              </a:rPr>
              <a:t>Конкуренты требуют от клиента тех-грамотности (IBM/D-Wave).</a:t>
            </a:r>
          </a:p>
          <a:p>
            <a:pPr>
              <a:spcBef>
                <a:spcPts val="400"/>
              </a:spcBef>
            </a:pPr>
            <a:r>
              <a:rPr sz="960" b="1" i="0">
                <a:solidFill>
                  <a:srgbClr val="2563EB"/>
                </a:solidFill>
                <a:latin typeface="Calibri"/>
              </a:rPr>
              <a:t>Ценность: </a:t>
            </a:r>
            <a:r>
              <a:rPr sz="960" b="0" i="0">
                <a:solidFill>
                  <a:srgbClr val="292E38"/>
                </a:solidFill>
                <a:latin typeface="Calibri"/>
              </a:rPr>
              <a:t>Доступно бизнес-заказчику; структурирует задачу в бизнес-терминах.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32304" y="4069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32304" y="4069080"/>
            <a:ext cx="3566160" cy="91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78608" y="4270248"/>
            <a:ext cx="566928" cy="566928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>
            <a:off x="2709001" y="4400641"/>
            <a:ext cx="306141" cy="306141"/>
          </a:xfrm>
          <a:prstGeom prst="star5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3552" y="425196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Честное управление ожиданиями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5001768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30" b="1" i="0">
                <a:solidFill>
                  <a:srgbClr val="2563EB"/>
                </a:solidFill>
                <a:latin typeface="Calibri"/>
              </a:rPr>
              <a:t>Наблюдение: </a:t>
            </a:r>
            <a:r>
              <a:rPr sz="930" b="0" i="0">
                <a:solidFill>
                  <a:srgbClr val="6B7280"/>
                </a:solidFill>
                <a:latin typeface="Calibri"/>
              </a:rPr>
              <a:t>Рынок перегрет хайпом, гарантий эффекта нет.</a:t>
            </a:r>
          </a:p>
          <a:p>
            <a:pPr>
              <a:spcBef>
                <a:spcPts val="400"/>
              </a:spcBef>
            </a:pPr>
            <a:r>
              <a:rPr sz="960" b="1" i="0">
                <a:solidFill>
                  <a:srgbClr val="2563EB"/>
                </a:solidFill>
                <a:latin typeface="Calibri"/>
              </a:rPr>
              <a:t>Ценность: </a:t>
            </a:r>
            <a:r>
              <a:rPr sz="960" b="0" i="0">
                <a:solidFill>
                  <a:srgbClr val="292E38"/>
                </a:solidFill>
                <a:latin typeface="Calibri"/>
              </a:rPr>
              <a:t>Ранний отсев нецелевых кейсов → качественные лиды и стандартизированные данные.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069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90488" y="4069080"/>
            <a:ext cx="3566160" cy="91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36792" y="4270248"/>
            <a:ext cx="566928" cy="566928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6467185" y="4400641"/>
            <a:ext cx="306141" cy="306141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1736" y="425196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Мост к экспертам + структурированный бриф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5001768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30" b="1" i="0">
                <a:solidFill>
                  <a:srgbClr val="2563EB"/>
                </a:solidFill>
                <a:latin typeface="Calibri"/>
              </a:rPr>
              <a:t>Наблюдение: </a:t>
            </a:r>
            <a:r>
              <a:rPr sz="930" b="0" i="0">
                <a:solidFill>
                  <a:srgbClr val="6B7280"/>
                </a:solidFill>
                <a:latin typeface="Calibri"/>
              </a:rPr>
              <a:t>Assessment-инструменты заканчиваются отчётом и не ведут к next step.</a:t>
            </a:r>
          </a:p>
          <a:p>
            <a:pPr>
              <a:spcBef>
                <a:spcPts val="400"/>
              </a:spcBef>
            </a:pPr>
            <a:r>
              <a:rPr sz="960" b="1" i="0">
                <a:solidFill>
                  <a:srgbClr val="2563EB"/>
                </a:solidFill>
                <a:latin typeface="Calibri"/>
              </a:rPr>
              <a:t>Ценность: </a:t>
            </a:r>
            <a:r>
              <a:rPr sz="960" b="0" i="0">
                <a:solidFill>
                  <a:srgbClr val="292E38"/>
                </a:solidFill>
                <a:latin typeface="Calibri"/>
              </a:rPr>
              <a:t>Готовый бриф экономит время экспертов; чёткий next step и точка монетизации.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Gear 6 2"/>
          <p:cNvSpPr/>
          <p:nvPr/>
        </p:nvSpPr>
        <p:spPr>
          <a:xfrm>
            <a:off x="748436" y="675284"/>
            <a:ext cx="469087" cy="469087"/>
          </a:xfrm>
          <a:prstGeom prst="gear6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ШАГ 4 · РЕКОМЕНДАЦИИ ДЛЯ РАЗРАБОТЧИКОВ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Состав первой версии продукта (MVP)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55648"/>
            <a:ext cx="713232" cy="7132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ular Callout 8"/>
          <p:cNvSpPr/>
          <p:nvPr/>
        </p:nvSpPr>
        <p:spPr>
          <a:xfrm>
            <a:off x="712683" y="1919691"/>
            <a:ext cx="385145" cy="385145"/>
          </a:xfrm>
          <a:prstGeom prst="wedgeRoundRectCallou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17373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1. Интерактивная анкета на языке бизнеса</a:t>
            </a:r>
          </a:p>
          <a:p>
            <a:pPr>
              <a:spcBef>
                <a:spcPts val="200"/>
              </a:spcBef>
            </a:pPr>
            <a:r>
              <a:rPr sz="960" b="0" i="0">
                <a:solidFill>
                  <a:srgbClr val="6B7280"/>
                </a:solidFill>
                <a:latin typeface="Calibri"/>
              </a:rPr>
              <a:t>Реализует «язык бизнеса» и «низкий порог»: задача, боль, масштаб, цель.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5648"/>
            <a:ext cx="713232" cy="7132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Gear 6 11"/>
          <p:cNvSpPr/>
          <p:nvPr/>
        </p:nvSpPr>
        <p:spPr>
          <a:xfrm>
            <a:off x="6336243" y="1919691"/>
            <a:ext cx="385145" cy="385145"/>
          </a:xfrm>
          <a:prstGeom prst="gear6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373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2. Система скоринга (rule-based классификатор)</a:t>
            </a:r>
          </a:p>
          <a:p>
            <a:pPr>
              <a:spcBef>
                <a:spcPts val="200"/>
              </a:spcBef>
            </a:pPr>
            <a:r>
              <a:rPr sz="960" b="0" i="0">
                <a:solidFill>
                  <a:srgbClr val="6B7280"/>
                </a:solidFill>
                <a:latin typeface="Calibri"/>
              </a:rPr>
              <a:t>Архетип + вердикт «перспективно / неочевидно / вряд ли»; ядро приоритизации без запуска кванта.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15768"/>
            <a:ext cx="713232" cy="7132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712683" y="2879811"/>
            <a:ext cx="385145" cy="385145"/>
          </a:xfrm>
          <a:prstGeom prst="donu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187" y="3022315"/>
            <a:ext cx="100137" cy="100137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19" y="2697479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3. Прозрачный скоринг + дисклеймер</a:t>
            </a:r>
          </a:p>
          <a:p>
            <a:pPr>
              <a:spcBef>
                <a:spcPts val="200"/>
              </a:spcBef>
            </a:pPr>
            <a:r>
              <a:rPr sz="960" b="0" i="0">
                <a:solidFill>
                  <a:srgbClr val="6B7280"/>
                </a:solidFill>
                <a:latin typeface="Calibri"/>
              </a:rPr>
              <a:t>Поддерживает «честные ожидания»: понятная логика и «без гарантии эффекта».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15768"/>
            <a:ext cx="713232" cy="7132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Folded Corner 18"/>
          <p:cNvSpPr/>
          <p:nvPr/>
        </p:nvSpPr>
        <p:spPr>
          <a:xfrm>
            <a:off x="6336243" y="2879811"/>
            <a:ext cx="385145" cy="385145"/>
          </a:xfrm>
          <a:prstGeom prst="foldedCorner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697479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4. Бриф-артефакт на выходе</a:t>
            </a:r>
          </a:p>
          <a:p>
            <a:pPr>
              <a:spcBef>
                <a:spcPts val="200"/>
              </a:spcBef>
            </a:pPr>
            <a:r>
              <a:rPr sz="960" b="0" i="0">
                <a:solidFill>
                  <a:srgbClr val="6B7280"/>
                </a:solidFill>
                <a:latin typeface="Calibri"/>
              </a:rPr>
              <a:t>Реализует «мост к экспертам»: одностраничный структурированный бриф задачи.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75887"/>
            <a:ext cx="713232" cy="7132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12683" y="3839931"/>
            <a:ext cx="385145" cy="385145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19" y="3657599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5. Флоу хэндоффа к экспертам</a:t>
            </a:r>
          </a:p>
          <a:p>
            <a:pPr>
              <a:spcBef>
                <a:spcPts val="200"/>
              </a:spcBef>
            </a:pPr>
            <a:r>
              <a:rPr sz="960" b="0" i="0">
                <a:solidFill>
                  <a:srgbClr val="6B7280"/>
                </a:solidFill>
                <a:latin typeface="Calibri"/>
              </a:rPr>
              <a:t>Запись на консультацию / очередь экспертов + лид-капчер.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75887"/>
            <a:ext cx="713232" cy="7132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Cube 24"/>
          <p:cNvSpPr/>
          <p:nvPr/>
        </p:nvSpPr>
        <p:spPr>
          <a:xfrm>
            <a:off x="6336243" y="3839931"/>
            <a:ext cx="385145" cy="385145"/>
          </a:xfrm>
          <a:prstGeom prst="cub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657599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6. База референсов и типовых вопросов</a:t>
            </a:r>
          </a:p>
          <a:p>
            <a:pPr>
              <a:spcBef>
                <a:spcPts val="200"/>
              </a:spcBef>
            </a:pPr>
            <a:r>
              <a:rPr sz="960" b="0" i="0">
                <a:solidFill>
                  <a:srgbClr val="6B7280"/>
                </a:solidFill>
                <a:latin typeface="Calibri"/>
              </a:rPr>
              <a:t>Подсказки и примеры use-case по отраслям (ориентир — D-Wave / MS / AWS).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36008"/>
            <a:ext cx="713232" cy="7132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>
            <a:off x="712683" y="4800051"/>
            <a:ext cx="385145" cy="385145"/>
          </a:xfrm>
          <a:prstGeom prst="ca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19" y="46177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7. Сбор данных + жёсткий скоуп</a:t>
            </a:r>
          </a:p>
          <a:p>
            <a:pPr>
              <a:spcBef>
                <a:spcPts val="200"/>
              </a:spcBef>
            </a:pPr>
            <a:r>
              <a:rPr sz="960" b="0" i="0">
                <a:solidFill>
                  <a:srgbClr val="6B7280"/>
                </a:solidFill>
                <a:latin typeface="Calibri"/>
              </a:rPr>
              <a:t>Обезличенные анкеты → база знаний; без интеграций и реального кванта в v1.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636008"/>
            <a:ext cx="5486400" cy="1627632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4818888"/>
            <a:ext cx="566928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Heart 31"/>
          <p:cNvSpPr/>
          <p:nvPr/>
        </p:nvSpPr>
        <p:spPr>
          <a:xfrm>
            <a:off x="6485473" y="4949281"/>
            <a:ext cx="306141" cy="306141"/>
          </a:xfrm>
          <a:prstGeom prst="hear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4846320"/>
            <a:ext cx="4434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Фокус MVP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92E38"/>
                </a:solidFill>
                <a:latin typeface="Calibri"/>
              </a:rPr>
              <a:t>Структурировать задачу и передать её экспертам — без избыточного усложнения на старте.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48436" y="675284"/>
            <a:ext cx="469087" cy="469087"/>
          </a:xfrm>
          <a:prstGeom prst="star5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ПРИЛОЖЕНИЕ · КЕЙСЫ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Что конкуренты уже решают на практике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1091672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468880"/>
                <a:gridCol w="4937760"/>
                <a:gridCol w="1673352"/>
              </a:tblGrid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Игрок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Архетип задач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Примеры кейсов (клиент → задача)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Зрелость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22A5E"/>
                          </a:solidFill>
                          <a:latin typeface="Calibri"/>
                        </a:rPr>
                        <a:t>D-Wave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Комбинаторная оптимизация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Save-On-Foods (расписания, −80% времени) · Port of LA · NTT DOCOMO (−15%) · Ford Otosan · VW · DENSO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Есть продакшен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22A5E"/>
                          </a:solidFill>
                          <a:latin typeface="Calibri"/>
                        </a:rPr>
                        <a:t>IBM Quantum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Симуляция + финансы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Boeing (коррозия) · Mercedes (батареи) · Mitsubishi/JSR (OLED) · JPMorgan · HSBC · Cleveland Clinic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В осн. research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22A5E"/>
                          </a:solidFill>
                          <a:latin typeface="Calibri"/>
                        </a:rPr>
                        <a:t>Multiverse / QC Ware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Финансы, энергетика, химия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BBVA · Iberdrola · Telefónica (LLM) · Goldman Sachs · Covestro · Aisin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PoC / пилоты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22A5E"/>
                          </a:solidFill>
                          <a:latin typeface="Calibri"/>
                        </a:rPr>
                        <a:t>MS / AWS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Self-service ассессмент (не квант)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Не отраслевые кейсы, а эталон формата: анкета по pillars → скоринг → приоритизированный отчёт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292E38"/>
                          </a:solidFill>
                          <a:latin typeface="Calibri"/>
                        </a:rPr>
                        <a:t>Массовый продукт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30" b="0" i="1">
                <a:solidFill>
                  <a:srgbClr val="6B7280"/>
                </a:solidFill>
                <a:latin typeface="Calibri"/>
              </a:rPr>
              <a:t>Цифры — заявления вендоров/партнёров (PoC/research), не аудированный production-ROI. В проде преимущественно оптимизация.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748436" y="675284"/>
            <a:ext cx="469087" cy="469087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ПРИЛОЖЕНИЕ · ПРОЦЕСС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Как конкуренты выстраивают процесс с клиентом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542032" cy="868680"/>
          </a:xfrm>
          <a:prstGeom prst="roundRect">
            <a:avLst/>
          </a:prstGeom>
          <a:solidFill>
            <a:srgbClr val="12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1. Discovery</a:t>
            </a:r>
          </a:p>
          <a:p>
            <a:pPr algn="ctr"/>
            <a:r>
              <a:rPr sz="950" b="0" i="0">
                <a:solidFill>
                  <a:srgbClr val="C9D8F5"/>
                </a:solidFill>
                <a:latin typeface="Calibri"/>
              </a:rPr>
              <a:t>поиск задачи</a:t>
            </a:r>
          </a:p>
        </p:txBody>
      </p:sp>
      <p:sp>
        <p:nvSpPr>
          <p:cNvPr id="9" name="Chevron 8"/>
          <p:cNvSpPr/>
          <p:nvPr/>
        </p:nvSpPr>
        <p:spPr>
          <a:xfrm>
            <a:off x="3108960" y="2011680"/>
            <a:ext cx="256032" cy="45720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2424" y="1783080"/>
            <a:ext cx="2542032" cy="868680"/>
          </a:xfrm>
          <a:prstGeom prst="roundRect">
            <a:avLst/>
          </a:prstGeom>
          <a:solidFill>
            <a:srgbClr val="12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2. Assessment</a:t>
            </a:r>
          </a:p>
          <a:p>
            <a:pPr algn="ctr"/>
            <a:r>
              <a:rPr sz="950" b="0" i="0">
                <a:solidFill>
                  <a:srgbClr val="C9D8F5"/>
                </a:solidFill>
                <a:latin typeface="Calibri"/>
              </a:rPr>
              <a:t>оценка применимости</a:t>
            </a:r>
          </a:p>
        </p:txBody>
      </p:sp>
      <p:sp>
        <p:nvSpPr>
          <p:cNvPr id="11" name="Chevron 10"/>
          <p:cNvSpPr/>
          <p:nvPr/>
        </p:nvSpPr>
        <p:spPr>
          <a:xfrm>
            <a:off x="5952744" y="2011680"/>
            <a:ext cx="256032" cy="45720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7" y="1783080"/>
            <a:ext cx="2542032" cy="868680"/>
          </a:xfrm>
          <a:prstGeom prst="roundRect">
            <a:avLst/>
          </a:prstGeom>
          <a:solidFill>
            <a:srgbClr val="12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3. PoC / Pilot</a:t>
            </a:r>
          </a:p>
          <a:p>
            <a:pPr algn="ctr"/>
            <a:r>
              <a:rPr sz="950" b="0" i="0">
                <a:solidFill>
                  <a:srgbClr val="C9D8F5"/>
                </a:solidFill>
                <a:latin typeface="Calibri"/>
              </a:rPr>
              <a:t>прототип на данных</a:t>
            </a:r>
          </a:p>
        </p:txBody>
      </p:sp>
      <p:sp>
        <p:nvSpPr>
          <p:cNvPr id="13" name="Chevron 12"/>
          <p:cNvSpPr/>
          <p:nvPr/>
        </p:nvSpPr>
        <p:spPr>
          <a:xfrm>
            <a:off x="8796528" y="2011680"/>
            <a:ext cx="256032" cy="45720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79992" y="1783080"/>
            <a:ext cx="2542032" cy="868680"/>
          </a:xfrm>
          <a:prstGeom prst="roundRect">
            <a:avLst/>
          </a:prstGeom>
          <a:solidFill>
            <a:srgbClr val="12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4. Production</a:t>
            </a:r>
          </a:p>
          <a:p>
            <a:pPr algn="ctr"/>
            <a:r>
              <a:rPr sz="950" b="0" i="0">
                <a:solidFill>
                  <a:srgbClr val="C9D8F5"/>
                </a:solidFill>
                <a:latin typeface="Calibri"/>
              </a:rPr>
              <a:t>внедрение и сопровождение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614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7280"/>
                </a:solidFill>
                <a:latin typeface="Calibri"/>
              </a:rPr>
              <a:t>Общая схема у квантовых игроков — консалтинго-ведомая, sales-gated, требует тех-грамотности клиента.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4612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35584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D-Wave Launch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Проф. услуги: эксперты «переводят» задачу в QUBO; доставка через облако Leap.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324612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335584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IBM Quantum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Членство (Network) + working groups + обучение Quantum Business Foundations.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31596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Multiverse / QC Ware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Продукт (Singularity / Forge) + консалтинг; discovery → PoC → deployment.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420624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431596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MS / AWS (эталон)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Self-service анкета по pillars без консультанта; хэндофф к партнёрам.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91672" cy="91440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Calibri"/>
              </a:rPr>
              <a:t>Наш сдвиг (Q-Scope):  </a:t>
            </a:r>
            <a:r>
              <a:rPr sz="1100" b="0" i="0">
                <a:solidFill>
                  <a:srgbClr val="292E38"/>
                </a:solidFill>
                <a:latin typeface="Calibri"/>
              </a:rPr>
              <a:t>self-service анкета на входе вместо sales-gated discovery → быстро и дёшево квалифицируем задачу, дальше — бриф к экспертам. Vendor-нейтрально.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Gear 6 2"/>
          <p:cNvSpPr/>
          <p:nvPr/>
        </p:nvSpPr>
        <p:spPr>
          <a:xfrm>
            <a:off x="748436" y="675284"/>
            <a:ext cx="469087" cy="469087"/>
          </a:xfrm>
          <a:prstGeom prst="gear6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ПРИЛОЖЕНИЕ · ДВИЖОК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Движок приоритизации инициатив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577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5303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22A5E"/>
                </a:solidFill>
                <a:latin typeface="Calibri"/>
              </a:rPr>
              <a:t>Шаг 1. Gate-фильтры (любое «нет» → не для кванта)</a:t>
            </a:r>
          </a:p>
          <a:p>
            <a:pPr>
              <a:spcBef>
                <a:spcPts val="500"/>
              </a:spcBef>
            </a:pPr>
            <a:r>
              <a:rPr sz="1050" b="0" i="0">
                <a:solidFill>
                  <a:srgbClr val="292E38"/>
                </a:solidFill>
                <a:latin typeface="Calibri"/>
              </a:rPr>
              <a:t>1. Классика провисает (экспоненциально / NP-трудно)</a:t>
            </a:r>
          </a:p>
          <a:p>
            <a:pPr>
              <a:spcBef>
                <a:spcPts val="500"/>
              </a:spcBef>
            </a:pPr>
            <a:r>
              <a:rPr sz="1050" b="0" i="0">
                <a:solidFill>
                  <a:srgbClr val="292E38"/>
                </a:solidFill>
                <a:latin typeface="Calibri"/>
              </a:rPr>
              <a:t>2. Формализуемо как QUBO / Hamiltonian (цель + ограничения)</a:t>
            </a:r>
          </a:p>
          <a:p>
            <a:pPr>
              <a:spcBef>
                <a:spcPts val="500"/>
              </a:spcBef>
            </a:pPr>
            <a:r>
              <a:rPr sz="1050" b="0" i="0">
                <a:solidFill>
                  <a:srgbClr val="292E38"/>
                </a:solidFill>
                <a:latin typeface="Calibri"/>
              </a:rPr>
              <a:t>3. Нет I/O-bottleneck (вход мал относительно решений)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557784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22191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22A5E"/>
                </a:solidFill>
                <a:latin typeface="Calibri"/>
              </a:rPr>
              <a:t>Шаг 2. Взвешенный скоринг (0–5)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563EB"/>
                </a:solidFill>
                <a:latin typeface="Calibri"/>
              </a:rPr>
              <a:t>25%  </a:t>
            </a:r>
            <a:r>
              <a:rPr sz="1050" b="0" i="0">
                <a:solidFill>
                  <a:srgbClr val="292E38"/>
                </a:solidFill>
                <a:latin typeface="Calibri"/>
              </a:rPr>
              <a:t>Бизнес-ценность / ROI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563EB"/>
                </a:solidFill>
                <a:latin typeface="Calibri"/>
              </a:rPr>
              <a:t>25%  </a:t>
            </a:r>
            <a:r>
              <a:rPr sz="1050" b="0" i="0">
                <a:solidFill>
                  <a:srgbClr val="292E38"/>
                </a:solidFill>
                <a:latin typeface="Calibri"/>
              </a:rPr>
              <a:t>Классическая твёрдость + speedup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563EB"/>
                </a:solidFill>
                <a:latin typeface="Calibri"/>
              </a:rPr>
              <a:t>15%  </a:t>
            </a:r>
            <a:r>
              <a:rPr sz="1050" b="0" i="0">
                <a:solidFill>
                  <a:srgbClr val="292E38"/>
                </a:solidFill>
                <a:latin typeface="Calibri"/>
              </a:rPr>
              <a:t>Архетип-fit (симуляция/оптимизация ≫ QML)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563EB"/>
                </a:solidFill>
                <a:latin typeface="Calibri"/>
              </a:rPr>
              <a:t>15%  </a:t>
            </a:r>
            <a:r>
              <a:rPr sz="1050" b="0" i="0">
                <a:solidFill>
                  <a:srgbClr val="292E38"/>
                </a:solidFill>
                <a:latin typeface="Calibri"/>
              </a:rPr>
              <a:t>Реализуемость (NISQ сейчас vs FT)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563EB"/>
                </a:solidFill>
                <a:latin typeface="Calibri"/>
              </a:rPr>
              <a:t>10%  </a:t>
            </a:r>
            <a:r>
              <a:rPr sz="1050" b="0" i="0">
                <a:solidFill>
                  <a:srgbClr val="292E38"/>
                </a:solidFill>
                <a:latin typeface="Calibri"/>
              </a:rPr>
              <a:t>Готовность данных / инфры / команды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2563EB"/>
                </a:solidFill>
                <a:latin typeface="Calibri"/>
              </a:rPr>
              <a:t>10%  </a:t>
            </a:r>
            <a:r>
              <a:rPr sz="1050" b="0" i="0">
                <a:solidFill>
                  <a:srgbClr val="292E38"/>
                </a:solidFill>
                <a:latin typeface="Calibri"/>
              </a:rPr>
              <a:t>Допустимость приближённого решения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1051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22A5E"/>
                </a:solidFill>
                <a:latin typeface="Calibri"/>
              </a:rPr>
              <a:t>Шаг 3. Матрица 2×2 → приоритет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240280"/>
            <a:ext cx="2103120" cy="2103120"/>
          </a:xfrm>
          <a:prstGeom prst="roundRect">
            <a:avLst/>
          </a:prstGeom>
          <a:solidFill>
            <a:srgbClr val="EAF1F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22A5E"/>
                </a:solidFill>
                <a:latin typeface="Calibri"/>
              </a:rPr>
              <a:t>Watchlist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2240280"/>
            <a:ext cx="2103120" cy="210312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PoC сейчас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398264"/>
            <a:ext cx="2103120" cy="2103120"/>
          </a:xfrm>
          <a:prstGeom prst="roundRect">
            <a:avLst/>
          </a:prstGeom>
          <a:solidFill>
            <a:srgbClr val="EEF0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Отбросить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4398264"/>
            <a:ext cx="2103120" cy="2103120"/>
          </a:xfrm>
          <a:prstGeom prst="roundRect">
            <a:avLst/>
          </a:prstGeom>
          <a:solidFill>
            <a:srgbClr val="F5F8F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22A5E"/>
                </a:solidFill>
                <a:latin typeface="Calibri"/>
              </a:rPr>
              <a:t>Классический / гибридный солвер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476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↑ Квантовый потенциал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592824"/>
            <a:ext cx="4261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Бизнес-ценность / реализуемость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olded Corner 2"/>
          <p:cNvSpPr/>
          <p:nvPr/>
        </p:nvSpPr>
        <p:spPr>
          <a:xfrm>
            <a:off x="748436" y="675284"/>
            <a:ext cx="469087" cy="469087"/>
          </a:xfrm>
          <a:prstGeom prst="foldedCorner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ПРИЛОЖЕНИЕ · MVP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Бриф задачи и подготовка клиента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760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22A5E"/>
                </a:solidFill>
                <a:latin typeface="Calibri"/>
              </a:rPr>
              <a:t>Структура брифа (12 секций)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Владелец задачи и роли (кто решает, кто платит)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Бизнес-задача в одном предложении: «как есть» → «как надо»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Текущее решение и боль (время / стоимость / качество)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Тип задачи и цель (что значит «лучше»)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Переменные решения (что можно менять)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Ограничения (жёсткие / мягкие)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Масштаб (число объектов; рост со временем)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Данные (объём, формат, доступность, чувствительность)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Метрика успеха и базовая линия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Частота и режим (разово / real-time)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Экономика (стоимость, цена ошибки, эффект)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92E38"/>
                </a:solidFill>
                <a:latin typeface="Calibri"/>
              </a:rPr>
              <a:t>•  Готовность и ограничения (ИТ, бюджет, комплаенс)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5148072" cy="443484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8463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Calibri"/>
              </a:rPr>
              <a:t>Кого пригласить и что подготовить</a:t>
            </a:r>
          </a:p>
          <a:p>
            <a:pPr>
              <a:spcBef>
                <a:spcPts val="600"/>
              </a:spcBef>
            </a:pPr>
            <a:r>
              <a:rPr sz="1030" b="0" i="0">
                <a:solidFill>
                  <a:srgbClr val="292E38"/>
                </a:solidFill>
                <a:latin typeface="Calibri"/>
              </a:rPr>
              <a:t>•  Бизнес-заказчик — боль, метрика, эффект</a:t>
            </a:r>
          </a:p>
          <a:p>
            <a:pPr>
              <a:spcBef>
                <a:spcPts val="600"/>
              </a:spcBef>
            </a:pPr>
            <a:r>
              <a:rPr sz="1030" b="0" i="0">
                <a:solidFill>
                  <a:srgbClr val="292E38"/>
                </a:solidFill>
                <a:latin typeface="Calibri"/>
              </a:rPr>
              <a:t>•  Профильные операции — процесс, ограничения, объёмы</a:t>
            </a:r>
          </a:p>
          <a:p>
            <a:pPr>
              <a:spcBef>
                <a:spcPts val="600"/>
              </a:spcBef>
            </a:pPr>
            <a:r>
              <a:rPr sz="1030" b="0" i="0">
                <a:solidFill>
                  <a:srgbClr val="292E38"/>
                </a:solidFill>
                <a:latin typeface="Calibri"/>
              </a:rPr>
              <a:t>•  Владелец данных — какие данные, объём, доступ</a:t>
            </a:r>
          </a:p>
          <a:p>
            <a:pPr>
              <a:spcBef>
                <a:spcPts val="600"/>
              </a:spcBef>
            </a:pPr>
            <a:r>
              <a:rPr sz="1030" b="0" i="0">
                <a:solidFill>
                  <a:srgbClr val="292E38"/>
                </a:solidFill>
                <a:latin typeface="Calibri"/>
              </a:rPr>
              <a:t>•  ИТ / инфраструктура — где данные, интеграции, безопасность</a:t>
            </a:r>
          </a:p>
          <a:p>
            <a:pPr>
              <a:spcBef>
                <a:spcPts val="600"/>
              </a:spcBef>
            </a:pPr>
            <a:r>
              <a:rPr sz="1030" b="0" i="0">
                <a:solidFill>
                  <a:srgbClr val="292E38"/>
                </a:solidFill>
                <a:latin typeface="Calibri"/>
              </a:rPr>
              <a:t>•  Финансы — стоимость решения, цена ошибки, ROI</a:t>
            </a:r>
          </a:p>
          <a:p>
            <a:pPr>
              <a:spcBef>
                <a:spcPts val="600"/>
              </a:spcBef>
            </a:pPr>
            <a:r>
              <a:rPr sz="1030" b="0" i="0">
                <a:solidFill>
                  <a:srgbClr val="292E38"/>
                </a:solidFill>
                <a:latin typeface="Calibri"/>
              </a:rPr>
              <a:t>•  Комплаенс (опц.) — ограничения на данные</a:t>
            </a:r>
          </a:p>
          <a:p>
            <a:pPr>
              <a:spcBef>
                <a:spcPts val="1000"/>
              </a:spcBef>
            </a:pPr>
            <a:r>
              <a:rPr sz="1000" b="1" i="0">
                <a:solidFill>
                  <a:srgbClr val="122A5E"/>
                </a:solidFill>
                <a:latin typeface="Calibri"/>
              </a:rPr>
              <a:t>Сервис выдаёт этот чек-лист, чтобы клиент пришёл подготовленным и собрал нужные службы.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ular Callout 2"/>
          <p:cNvSpPr/>
          <p:nvPr/>
        </p:nvSpPr>
        <p:spPr>
          <a:xfrm>
            <a:off x="748436" y="675284"/>
            <a:ext cx="469087" cy="469087"/>
          </a:xfrm>
          <a:prstGeom prst="wedgeRoundRectCallou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ПРИЛОЖЕНИЕ · MVP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Адаптивная анкета без брифа (чат-бот «Акинатор»)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766560" cy="54864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Уровень 0:  </a:t>
            </a:r>
            <a:r>
              <a:rPr sz="1000" b="0" i="0">
                <a:solidFill>
                  <a:srgbClr val="292E38"/>
                </a:solidFill>
                <a:latin typeface="Calibri"/>
              </a:rPr>
              <a:t>Отрасль и роль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04872"/>
            <a:ext cx="6766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Уровень 1:  </a:t>
            </a:r>
            <a:r>
              <a:rPr sz="1000" b="0" i="0">
                <a:solidFill>
                  <a:srgbClr val="292E38"/>
                </a:solidFill>
                <a:latin typeface="Calibri"/>
              </a:rPr>
              <a:t>Тип задачи → архетип: оптимизация / симуляция / сэмплинг /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26664"/>
            <a:ext cx="6766560" cy="54864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Уровень 2:  </a:t>
            </a:r>
            <a:r>
              <a:rPr sz="1000" b="0" i="0">
                <a:solidFill>
                  <a:srgbClr val="292E38"/>
                </a:solidFill>
                <a:latin typeface="Calibri"/>
              </a:rPr>
              <a:t>Признаки комбинаторного взрыва и боль классики (gate G1)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48456"/>
            <a:ext cx="6766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Уровень 3:  </a:t>
            </a:r>
            <a:r>
              <a:rPr sz="1000" b="0" i="0">
                <a:solidFill>
                  <a:srgbClr val="292E38"/>
                </a:solidFill>
                <a:latin typeface="Calibri"/>
              </a:rPr>
              <a:t>Формализуемость: цель + переменные + ограничения (gate G2)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70248"/>
            <a:ext cx="6766560" cy="54864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Уровень 4:  </a:t>
            </a:r>
            <a:r>
              <a:rPr sz="1000" b="0" i="0">
                <a:solidFill>
                  <a:srgbClr val="292E38"/>
                </a:solidFill>
                <a:latin typeface="Calibri"/>
              </a:rPr>
              <a:t>Данные и I/O-bottleneck (gate G3)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6766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Уровень 5:  </a:t>
            </a:r>
            <a:r>
              <a:rPr sz="1000" b="0" i="0">
                <a:solidFill>
                  <a:srgbClr val="292E38"/>
                </a:solidFill>
                <a:latin typeface="Calibri"/>
              </a:rPr>
              <a:t>Масштаб, частота, экономика → бизнес-ценность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13831"/>
            <a:ext cx="6766560" cy="54864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Уровень 6:  </a:t>
            </a:r>
            <a:r>
              <a:rPr sz="1000" b="0" i="0">
                <a:solidFill>
                  <a:srgbClr val="292E38"/>
                </a:solidFill>
                <a:latin typeface="Calibri"/>
              </a:rPr>
              <a:t>Готовность: данные / ИТ / команда / комплаенс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783080"/>
            <a:ext cx="409651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1901952"/>
            <a:ext cx="3794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Принцип (как Акинатор)</a:t>
            </a:r>
          </a:p>
          <a:p>
            <a:pPr>
              <a:spcBef>
                <a:spcPts val="3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От общего к частному, ветвление по ответам</a:t>
            </a:r>
          </a:p>
          <a:p>
            <a:pPr>
              <a:spcBef>
                <a:spcPts val="3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Закрытые ответы → детерминированный скоринг</a:t>
            </a:r>
          </a:p>
          <a:p>
            <a:pPr>
              <a:spcBef>
                <a:spcPts val="3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«Не знаю» не блокирует; индикатор «похоже на…»</a:t>
            </a:r>
          </a:p>
          <a:p>
            <a:pPr>
              <a:spcBef>
                <a:spcPts val="3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8–15 вопросов до результата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749039"/>
            <a:ext cx="4096512" cy="2468880"/>
          </a:xfrm>
          <a:prstGeom prst="roundRect">
            <a:avLst/>
          </a:prstGeom>
          <a:solidFill>
            <a:srgbClr val="1E9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3877056"/>
            <a:ext cx="3794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Calibri"/>
              </a:rPr>
              <a:t>Выход: сценарий + эффект</a:t>
            </a:r>
          </a:p>
          <a:p>
            <a:pPr>
              <a:spcBef>
                <a:spcPts val="400"/>
              </a:spcBef>
            </a:pPr>
            <a:r>
              <a:rPr sz="960" b="0" i="0">
                <a:solidFill>
                  <a:srgbClr val="FFFFFF"/>
                </a:solidFill>
                <a:latin typeface="Calibri"/>
              </a:rPr>
              <a:t>•  Вердикт: PoC · Watchlist · Классики достаточно</a:t>
            </a:r>
          </a:p>
          <a:p>
            <a:pPr>
              <a:spcBef>
                <a:spcPts val="400"/>
              </a:spcBef>
            </a:pPr>
            <a:r>
              <a:rPr sz="960" b="0" i="0">
                <a:solidFill>
                  <a:srgbClr val="FFFFFF"/>
                </a:solidFill>
                <a:latin typeface="Calibri"/>
              </a:rPr>
              <a:t>•  Сценарий: «ваша задача — {подтип}, формализуется как QUBO, подход — гибридный солвер, как кейс {референс}»</a:t>
            </a:r>
          </a:p>
          <a:p>
            <a:pPr>
              <a:spcBef>
                <a:spcPts val="400"/>
              </a:spcBef>
            </a:pPr>
            <a:r>
              <a:rPr sz="960" b="0" i="0">
                <a:solidFill>
                  <a:srgbClr val="FFFFFF"/>
                </a:solidFill>
                <a:latin typeface="Calibri"/>
              </a:rPr>
              <a:t>•  Оценка эффекта (вилка по аналогии) — не гарантия</a:t>
            </a:r>
          </a:p>
          <a:p>
            <a:pPr>
              <a:spcBef>
                <a:spcPts val="400"/>
              </a:spcBef>
            </a:pPr>
            <a:r>
              <a:rPr sz="960" b="0" i="0">
                <a:solidFill>
                  <a:srgbClr val="FFFFFF"/>
                </a:solidFill>
                <a:latin typeface="Calibri"/>
              </a:rPr>
              <a:t>•  Кнопка «передать экспертам» → авто-бриф (PDF)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748436" y="675284"/>
            <a:ext cx="469087" cy="469087"/>
          </a:xfrm>
          <a:prstGeom prst="donu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98" y="848846"/>
            <a:ext cx="121962" cy="12196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ПРИЛОЖЕНИЕ · КАРТА КЕЙСОВ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16 кейсов: квантовый потенциал × бизнес-ценность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828800"/>
            <a:ext cx="3657600" cy="2057400"/>
          </a:xfrm>
          <a:prstGeom prst="roundRect">
            <a:avLst/>
          </a:prstGeom>
          <a:solidFill>
            <a:srgbClr val="EAF1F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l"/>
            <a:r>
              <a:rPr sz="1200" b="1" i="0">
                <a:solidFill>
                  <a:srgbClr val="5C7AB8"/>
                </a:solidFill>
                <a:latin typeface="Calibri"/>
              </a:rPr>
              <a:t>Watchlist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828800"/>
            <a:ext cx="3657600" cy="2057400"/>
          </a:xfrm>
          <a:prstGeom prst="roundRect">
            <a:avLst/>
          </a:prstGeom>
          <a:solidFill>
            <a:srgbClr val="E4F4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/>
            <a:r>
              <a:rPr sz="1200" b="1" i="0">
                <a:solidFill>
                  <a:srgbClr val="3E8E65"/>
                </a:solidFill>
                <a:latin typeface="Calibri"/>
              </a:rPr>
              <a:t>PoC сейчас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886200"/>
            <a:ext cx="3657600" cy="2057400"/>
          </a:xfrm>
          <a:prstGeom prst="roundRect">
            <a:avLst/>
          </a:prstGeom>
          <a:solidFill>
            <a:srgbClr val="EEF0F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l"/>
            <a:r>
              <a:rPr sz="1200" b="1" i="0">
                <a:solidFill>
                  <a:srgbClr val="9AA1AC"/>
                </a:solidFill>
                <a:latin typeface="Calibri"/>
              </a:rPr>
              <a:t>Отбросить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886200"/>
            <a:ext cx="3657600" cy="2057400"/>
          </a:xfrm>
          <a:prstGeom prst="roundRect">
            <a:avLst/>
          </a:prstGeom>
          <a:solidFill>
            <a:srgbClr val="F5F8F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/>
            <a:r>
              <a:rPr sz="1200" b="1" i="0">
                <a:solidFill>
                  <a:srgbClr val="7E90AE"/>
                </a:solidFill>
                <a:latin typeface="Calibri"/>
              </a:rPr>
              <a:t>Классический солвер</a:t>
            </a:r>
          </a:p>
        </p:txBody>
      </p:sp>
      <p:sp>
        <p:nvSpPr>
          <p:cNvPr id="13" name="Oval 12"/>
          <p:cNvSpPr/>
          <p:nvPr/>
        </p:nvSpPr>
        <p:spPr>
          <a:xfrm>
            <a:off x="7891271" y="1956815"/>
            <a:ext cx="292608" cy="292608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14" name="Oval 13"/>
          <p:cNvSpPr/>
          <p:nvPr/>
        </p:nvSpPr>
        <p:spPr>
          <a:xfrm>
            <a:off x="8275320" y="1956815"/>
            <a:ext cx="292608" cy="292608"/>
          </a:xfrm>
          <a:prstGeom prst="ellipse">
            <a:avLst/>
          </a:prstGeom>
          <a:solidFill>
            <a:srgbClr val="1E9E6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5" name="Oval 14"/>
          <p:cNvSpPr/>
          <p:nvPr/>
        </p:nvSpPr>
        <p:spPr>
          <a:xfrm>
            <a:off x="3931920" y="2551175"/>
            <a:ext cx="292608" cy="292608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16" name="Oval 15"/>
          <p:cNvSpPr/>
          <p:nvPr/>
        </p:nvSpPr>
        <p:spPr>
          <a:xfrm>
            <a:off x="4334255" y="2551175"/>
            <a:ext cx="292608" cy="292608"/>
          </a:xfrm>
          <a:prstGeom prst="ellipse">
            <a:avLst/>
          </a:prstGeom>
          <a:solidFill>
            <a:srgbClr val="1E9E6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7" name="Oval 16"/>
          <p:cNvSpPr/>
          <p:nvPr/>
        </p:nvSpPr>
        <p:spPr>
          <a:xfrm>
            <a:off x="4133087" y="2871215"/>
            <a:ext cx="292608" cy="292608"/>
          </a:xfrm>
          <a:prstGeom prst="ellipse">
            <a:avLst/>
          </a:prstGeom>
          <a:solidFill>
            <a:srgbClr val="E08A1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8" name="Oval 17"/>
          <p:cNvSpPr/>
          <p:nvPr/>
        </p:nvSpPr>
        <p:spPr>
          <a:xfrm>
            <a:off x="6574536" y="4617719"/>
            <a:ext cx="292608" cy="292608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19" name="Oval 18"/>
          <p:cNvSpPr/>
          <p:nvPr/>
        </p:nvSpPr>
        <p:spPr>
          <a:xfrm>
            <a:off x="6958584" y="4617719"/>
            <a:ext cx="292608" cy="292608"/>
          </a:xfrm>
          <a:prstGeom prst="ellipse">
            <a:avLst/>
          </a:prstGeom>
          <a:solidFill>
            <a:srgbClr val="1E9E6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0" name="Oval 19"/>
          <p:cNvSpPr/>
          <p:nvPr/>
        </p:nvSpPr>
        <p:spPr>
          <a:xfrm>
            <a:off x="6574536" y="5001767"/>
            <a:ext cx="292608" cy="292608"/>
          </a:xfrm>
          <a:prstGeom prst="ellipse">
            <a:avLst/>
          </a:prstGeom>
          <a:solidFill>
            <a:srgbClr val="7A4FC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21" name="Oval 20"/>
          <p:cNvSpPr/>
          <p:nvPr/>
        </p:nvSpPr>
        <p:spPr>
          <a:xfrm>
            <a:off x="6958584" y="5001767"/>
            <a:ext cx="292608" cy="292608"/>
          </a:xfrm>
          <a:prstGeom prst="ellipse">
            <a:avLst/>
          </a:prstGeom>
          <a:solidFill>
            <a:srgbClr val="E08A1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2" name="Oval 21"/>
          <p:cNvSpPr/>
          <p:nvPr/>
        </p:nvSpPr>
        <p:spPr>
          <a:xfrm>
            <a:off x="2624328" y="4617719"/>
            <a:ext cx="292608" cy="292608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23" name="Oval 22"/>
          <p:cNvSpPr/>
          <p:nvPr/>
        </p:nvSpPr>
        <p:spPr>
          <a:xfrm>
            <a:off x="3008376" y="4617719"/>
            <a:ext cx="292608" cy="292608"/>
          </a:xfrm>
          <a:prstGeom prst="ellipse">
            <a:avLst/>
          </a:prstGeom>
          <a:solidFill>
            <a:srgbClr val="1E9E6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24" name="Oval 23"/>
          <p:cNvSpPr/>
          <p:nvPr/>
        </p:nvSpPr>
        <p:spPr>
          <a:xfrm>
            <a:off x="2624328" y="5001767"/>
            <a:ext cx="292608" cy="292608"/>
          </a:xfrm>
          <a:prstGeom prst="ellipse">
            <a:avLst/>
          </a:prstGeom>
          <a:solidFill>
            <a:srgbClr val="7A4FC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5" name="Oval 24"/>
          <p:cNvSpPr/>
          <p:nvPr/>
        </p:nvSpPr>
        <p:spPr>
          <a:xfrm>
            <a:off x="3008376" y="5001767"/>
            <a:ext cx="292608" cy="292608"/>
          </a:xfrm>
          <a:prstGeom prst="ellipse">
            <a:avLst/>
          </a:prstGeom>
          <a:solidFill>
            <a:srgbClr val="E08A1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1956815"/>
            <a:ext cx="292608" cy="292608"/>
          </a:xfrm>
          <a:prstGeom prst="ellipse">
            <a:avLst/>
          </a:prstGeom>
          <a:solidFill>
            <a:srgbClr val="7A4FC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27" name="Oval 26"/>
          <p:cNvSpPr/>
          <p:nvPr/>
        </p:nvSpPr>
        <p:spPr>
          <a:xfrm>
            <a:off x="4133087" y="1956815"/>
            <a:ext cx="292608" cy="292608"/>
          </a:xfrm>
          <a:prstGeom prst="ellipse">
            <a:avLst/>
          </a:prstGeom>
          <a:solidFill>
            <a:srgbClr val="7A4FC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28" name="Oval 27"/>
          <p:cNvSpPr/>
          <p:nvPr/>
        </p:nvSpPr>
        <p:spPr>
          <a:xfrm>
            <a:off x="8083296" y="2670047"/>
            <a:ext cx="292608" cy="292608"/>
          </a:xfrm>
          <a:prstGeom prst="ellipse">
            <a:avLst/>
          </a:prstGeom>
          <a:solidFill>
            <a:srgbClr val="E08A1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39" y="15361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↑ Квантовый потенциал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60167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Бизнес-ценность / реализуемость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8288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22A5E"/>
                </a:solidFill>
                <a:latin typeface="Calibri"/>
              </a:rPr>
              <a:t>Направления</a:t>
            </a:r>
          </a:p>
        </p:txBody>
      </p:sp>
      <p:sp>
        <p:nvSpPr>
          <p:cNvPr id="32" name="Oval 31"/>
          <p:cNvSpPr/>
          <p:nvPr/>
        </p:nvSpPr>
        <p:spPr>
          <a:xfrm>
            <a:off x="8915400" y="228600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8" y="22677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92E38"/>
                </a:solidFill>
                <a:latin typeface="Calibri"/>
              </a:rPr>
              <a:t>Логистика</a:t>
            </a:r>
          </a:p>
        </p:txBody>
      </p:sp>
      <p:sp>
        <p:nvSpPr>
          <p:cNvPr id="34" name="Oval 33"/>
          <p:cNvSpPr/>
          <p:nvPr/>
        </p:nvSpPr>
        <p:spPr>
          <a:xfrm>
            <a:off x="8915400" y="2670048"/>
            <a:ext cx="201168" cy="201168"/>
          </a:xfrm>
          <a:prstGeom prst="ellipse">
            <a:avLst/>
          </a:prstGeom>
          <a:solidFill>
            <a:srgbClr val="1E9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8" y="2651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92E38"/>
                </a:solidFill>
                <a:latin typeface="Calibri"/>
              </a:rPr>
              <a:t>Производство</a:t>
            </a:r>
          </a:p>
        </p:txBody>
      </p:sp>
      <p:sp>
        <p:nvSpPr>
          <p:cNvPr id="36" name="Oval 35"/>
          <p:cNvSpPr/>
          <p:nvPr/>
        </p:nvSpPr>
        <p:spPr>
          <a:xfrm>
            <a:off x="8915400" y="3054096"/>
            <a:ext cx="201168" cy="201168"/>
          </a:xfrm>
          <a:prstGeom prst="ellipse">
            <a:avLst/>
          </a:prstGeom>
          <a:solidFill>
            <a:srgbClr val="7A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8008" y="30358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92E38"/>
                </a:solidFill>
                <a:latin typeface="Calibri"/>
              </a:rPr>
              <a:t>Химия</a:t>
            </a:r>
          </a:p>
        </p:txBody>
      </p:sp>
      <p:sp>
        <p:nvSpPr>
          <p:cNvPr id="38" name="Oval 37"/>
          <p:cNvSpPr/>
          <p:nvPr/>
        </p:nvSpPr>
        <p:spPr>
          <a:xfrm>
            <a:off x="8915400" y="3438144"/>
            <a:ext cx="201168" cy="201168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8008" y="34198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92E38"/>
                </a:solidFill>
                <a:latin typeface="Calibri"/>
              </a:rPr>
              <a:t>Финансы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400" y="3977639"/>
            <a:ext cx="2697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4114800"/>
            <a:ext cx="2423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22A5E"/>
                </a:solidFill>
                <a:latin typeface="Calibri"/>
              </a:rPr>
              <a:t>Как читать</a:t>
            </a:r>
          </a:p>
          <a:p>
            <a:pPr>
              <a:spcBef>
                <a:spcPts val="4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Точка — 1 кейс (ID из CSV)</a:t>
            </a:r>
          </a:p>
          <a:p>
            <a:pPr>
              <a:spcBef>
                <a:spcPts val="4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Положение = баллы движка (X×Y)</a:t>
            </a:r>
          </a:p>
          <a:p>
            <a:pPr>
              <a:spcBef>
                <a:spcPts val="4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Точки в ячейке разнесены (jitter)</a:t>
            </a:r>
          </a:p>
          <a:p>
            <a:pPr>
              <a:spcBef>
                <a:spcPts val="400"/>
              </a:spcBef>
            </a:pPr>
            <a:r>
              <a:rPr sz="980" b="0" i="0">
                <a:solidFill>
                  <a:srgbClr val="292E38"/>
                </a:solidFill>
                <a:latin typeface="Calibri"/>
              </a:rPr>
              <a:t>•  Квадрант = вердикт приоритизации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868680" cy="868680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Cube 2"/>
          <p:cNvSpPr/>
          <p:nvPr/>
        </p:nvSpPr>
        <p:spPr>
          <a:xfrm>
            <a:off x="748436" y="675284"/>
            <a:ext cx="469087" cy="469087"/>
          </a:xfrm>
          <a:prstGeom prst="cub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475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Calibri"/>
              </a:rPr>
              <a:t>ПРИЛОЖЕНИЕ · БИБЛИОТЕКА</a:t>
            </a:r>
          </a:p>
          <a:p>
            <a:pPr>
              <a:spcBef>
                <a:spcPts val="200"/>
              </a:spcBef>
            </a:pPr>
            <a:r>
              <a:rPr sz="2400" b="1" i="0">
                <a:solidFill>
                  <a:srgbClr val="122A5E"/>
                </a:solidFill>
                <a:latin typeface="Calibri"/>
              </a:rPr>
              <a:t>Сценарии и эффекты: задача → референс → эффект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2184"/>
            <a:ext cx="15544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64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64208"/>
          <a:ext cx="11091672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828800"/>
                <a:gridCol w="2743200"/>
                <a:gridCol w="2377440"/>
                <a:gridCol w="1399032"/>
              </a:tblGrid>
              <a:tr h="3516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Подтип задачи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Архетип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Референс-кейс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Эффект (заявл.)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Горизонт</a:t>
                      </a:r>
                    </a:p>
                  </a:txBody>
                  <a:tcPr marL="82296" marR="73152" marT="36576" marB="36576" anchor="ctr">
                    <a:solidFill>
                      <a:srgbClr val="122A5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Расписание персонала/смен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Оптимизация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Save-On-Foods (D-Wave)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−80% времени планирования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Производственный план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Оптимизация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Ford Otosan (D-Wave)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−80% времени (в продакшене)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Логистика/порт/маршруты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Оптимизация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Port of LA, DENSO, VW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+throughput, −простои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Сеть/телеком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Оптимизация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NTT DOCOMO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−15% сигнальной нагрузки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Портфель/капитал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Оптимизация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BBVA (Multiverse, q-inspired)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Эффективнее классики (PoC)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Размещение активов в сети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Оптимизация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Iberdrola (Multiverse)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Сопоставимо/лучше классики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Риск/деривативы (Монте-Карло)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Сэмплинг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Goldman, JPMorgan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Квадратичное ускорение (research)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Средне-/долгосрок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Молекулы/материалы/батареи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Симуляция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Boeing, Mercedes, Mitsubishi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Точнее классики (research)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Средне-/долгосрок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Катализаторы/новые материалы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Симуляция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Covestro (QC Ware)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Готовность к 200–500 кубитам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Долгосрок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Дизайн молекул/пептидов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Симуляция/оптим.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Menten AI (D-Wave)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Дизайн «at scale»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22A5E"/>
                          </a:solidFill>
                          <a:latin typeface="Calibri"/>
                        </a:rPr>
                        <a:t>Прогноз/классификация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ML / QML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HSBC, Crédit Agricole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Watchlist (data-loading риск)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92E38"/>
                          </a:solidFill>
                          <a:latin typeface="Calibri"/>
                        </a:rPr>
                        <a:t>Долгосрок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/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82296" marR="73152" marT="36576" marB="36576" anchor="ctr">
                    <a:solidFill>
                      <a:srgbClr val="F5F8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